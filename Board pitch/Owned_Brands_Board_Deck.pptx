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402A"/>
        </a:solidFill>
      </p:bgPr>
    </p:bg>
    <p:spTree>
      <p:nvGrpSpPr>
        <p:cNvPr id="1" name=""/>
        <p:cNvGrpSpPr/>
        <p:nvPr/>
      </p:nvGrpSpPr>
      <p:grpSpPr>
        <a:xfrm>
          <a:off x="0" y="0"/>
          <a:ext cx="0" cy="0"/>
          <a:chOff x="0" y="0"/>
          <a:chExt cx="0" cy="0"/>
        </a:xfrm>
      </p:grpSpPr>
      <p:sp>
        <p:nvSpPr>
          <p:cNvPr id="2" name="Text 0"/>
          <p:cNvSpPr/>
          <p:nvPr/>
        </p:nvSpPr>
        <p:spPr>
          <a:xfrm>
            <a:off x="548640" y="640080"/>
            <a:ext cx="11094415" cy="320040"/>
          </a:xfrm>
          <a:prstGeom prst="rect">
            <a:avLst/>
          </a:prstGeom>
          <a:noFill/>
          <a:ln/>
        </p:spPr>
        <p:txBody>
          <a:bodyPr wrap="square" rtlCol="0" anchor="ctr"/>
          <a:lstStyle/>
          <a:p>
            <a:pPr indent="0" marL="0">
              <a:buNone/>
            </a:pPr>
            <a:r>
              <a:rPr lang="en-US" sz="1300" spc="300" kern="0" dirty="0">
                <a:solidFill>
                  <a:srgbClr val="37B26B"/>
                </a:solidFill>
                <a:latin typeface="Consolas" pitchFamily="34" charset="0"/>
                <a:ea typeface="Consolas" pitchFamily="34" charset="-122"/>
                <a:cs typeface="Consolas" pitchFamily="34" charset="-120"/>
              </a:rPr>
              <a:t>WCO  ·  OWNED BRANDS  ·  DATAVERS BRIEF</a:t>
            </a:r>
            <a:endParaRPr lang="en-US" sz="1300" dirty="0"/>
          </a:p>
        </p:txBody>
      </p:sp>
      <p:sp>
        <p:nvSpPr>
          <p:cNvPr id="3" name="Text 1"/>
          <p:cNvSpPr/>
          <p:nvPr/>
        </p:nvSpPr>
        <p:spPr>
          <a:xfrm>
            <a:off x="548640" y="1737360"/>
            <a:ext cx="11094415" cy="2194560"/>
          </a:xfrm>
          <a:prstGeom prst="rect">
            <a:avLst/>
          </a:prstGeom>
          <a:noFill/>
          <a:ln/>
        </p:spPr>
        <p:txBody>
          <a:bodyPr wrap="square" rtlCol="0" anchor="ctr"/>
          <a:lstStyle/>
          <a:p>
            <a:pPr algn="l" indent="0" marL="0">
              <a:lnSpc>
                <a:spcPct val="104000"/>
              </a:lnSpc>
              <a:buNone/>
            </a:pPr>
            <a:r>
              <a:rPr lang="en-US" sz="4000" b="1" dirty="0">
                <a:solidFill>
                  <a:srgbClr val="FFFFFF"/>
                </a:solidFill>
                <a:latin typeface="Trebuchet MS" pitchFamily="34" charset="0"/>
                <a:ea typeface="Trebuchet MS" pitchFamily="34" charset="-122"/>
                <a:cs typeface="Trebuchet MS" pitchFamily="34" charset="-120"/>
              </a:rPr>
              <a:t>Uncover the signals to help WCO sellers win deals</a:t>
            </a:r>
            <a:endParaRPr lang="en-US" sz="4000" dirty="0"/>
          </a:p>
          <a:p>
            <a:pPr algn="l" indent="0" marL="0">
              <a:lnSpc>
                <a:spcPct val="104000"/>
              </a:lnSpc>
              <a:buNone/>
            </a:pPr>
            <a:r>
              <a:rPr lang="en-US" sz="4000" b="1" dirty="0">
                <a:solidFill>
                  <a:srgbClr val="FFFFFF"/>
                </a:solidFill>
                <a:latin typeface="Trebuchet MS" pitchFamily="34" charset="0"/>
                <a:ea typeface="Trebuchet MS" pitchFamily="34" charset="-122"/>
                <a:cs typeface="Trebuchet MS" pitchFamily="34" charset="-120"/>
              </a:rPr>
              <a:t>and increase owned-brand margin.</a:t>
            </a:r>
            <a:endParaRPr lang="en-US" sz="4000" dirty="0"/>
          </a:p>
        </p:txBody>
      </p:sp>
      <p:sp>
        <p:nvSpPr>
          <p:cNvPr id="4" name="Text 2"/>
          <p:cNvSpPr/>
          <p:nvPr/>
        </p:nvSpPr>
        <p:spPr>
          <a:xfrm>
            <a:off x="548640" y="3931920"/>
            <a:ext cx="10058400" cy="914400"/>
          </a:xfrm>
          <a:prstGeom prst="rect">
            <a:avLst/>
          </a:prstGeom>
          <a:noFill/>
          <a:ln/>
        </p:spPr>
        <p:txBody>
          <a:bodyPr wrap="square" rtlCol="0" anchor="ctr"/>
          <a:lstStyle/>
          <a:p>
            <a:pPr algn="l" indent="0" marL="0">
              <a:buNone/>
            </a:pPr>
            <a:r>
              <a:rPr lang="en-US" sz="1700" dirty="0">
                <a:solidFill>
                  <a:srgbClr val="D6E8DD"/>
                </a:solidFill>
                <a:latin typeface="Calibri" pitchFamily="34" charset="0"/>
                <a:ea typeface="Calibri" pitchFamily="34" charset="-122"/>
                <a:cs typeface="Calibri" pitchFamily="34" charset="-120"/>
              </a:rPr>
              <a:t>A read-only, vendor-side intelligence and activity platform inside WCO, fit to Owned Brands’ mandate. It surfaces the signals and tracks our engagement, so the Owned Brands team engages the right opportunity at the right time.</a:t>
            </a:r>
            <a:endParaRPr lang="en-US" sz="1700" dirty="0"/>
          </a:p>
        </p:txBody>
      </p:sp>
      <p:sp>
        <p:nvSpPr>
          <p:cNvPr id="5" name="Shape 3"/>
          <p:cNvSpPr/>
          <p:nvPr/>
        </p:nvSpPr>
        <p:spPr>
          <a:xfrm>
            <a:off x="548640" y="5029200"/>
            <a:ext cx="11094415" cy="713232"/>
          </a:xfrm>
          <a:prstGeom prst="roundRect">
            <a:avLst>
              <a:gd name="adj" fmla="val 12821"/>
            </a:avLst>
          </a:prstGeom>
          <a:solidFill>
            <a:srgbClr val="0B3020"/>
          </a:solidFill>
          <a:ln w="12700">
            <a:solidFill>
              <a:srgbClr val="1B7F4B"/>
            </a:solidFill>
            <a:prstDash val="solid"/>
          </a:ln>
        </p:spPr>
      </p:sp>
      <p:sp>
        <p:nvSpPr>
          <p:cNvPr id="6" name="Text 4"/>
          <p:cNvSpPr/>
          <p:nvPr/>
        </p:nvSpPr>
        <p:spPr>
          <a:xfrm>
            <a:off x="548640" y="5029200"/>
            <a:ext cx="11094415" cy="713232"/>
          </a:xfrm>
          <a:prstGeom prst="rect">
            <a:avLst/>
          </a:prstGeom>
          <a:noFill/>
          <a:ln/>
        </p:spPr>
        <p:txBody>
          <a:bodyPr wrap="square" rtlCol="0" anchor="ctr"/>
          <a:lstStyle/>
          <a:p>
            <a:pPr algn="ctr" indent="0" marL="0">
              <a:buNone/>
            </a:pPr>
            <a:r>
              <a:rPr lang="en-US" sz="1300" dirty="0">
                <a:solidFill>
                  <a:srgbClr val="FFFFFF"/>
                </a:solidFill>
                <a:latin typeface="Consolas" pitchFamily="34" charset="0"/>
                <a:ea typeface="Consolas" pitchFamily="34" charset="-122"/>
                <a:cs typeface="Consolas" pitchFamily="34" charset="-120"/>
              </a:rPr>
              <a:t>surface signal</a:t>
            </a:r>
            <a:pPr algn="ctr" indent="0" marL="0">
              <a:buNone/>
            </a:pPr>
            <a:r>
              <a:rPr lang="en-US" sz="1300" b="1" dirty="0">
                <a:solidFill>
                  <a:srgbClr val="37B26B"/>
                </a:solidFill>
                <a:latin typeface="Consolas" pitchFamily="34" charset="0"/>
                <a:ea typeface="Consolas" pitchFamily="34" charset="-122"/>
                <a:cs typeface="Consolas" pitchFamily="34" charset="-120"/>
              </a:rPr>
              <a:t>  →  </a:t>
            </a:r>
            <a:pPr algn="ctr" indent="0" marL="0">
              <a:buNone/>
            </a:pPr>
            <a:r>
              <a:rPr lang="en-US" sz="1300" dirty="0">
                <a:solidFill>
                  <a:srgbClr val="FFFFFF"/>
                </a:solidFill>
                <a:latin typeface="Consolas" pitchFamily="34" charset="0"/>
                <a:ea typeface="Consolas" pitchFamily="34" charset="-122"/>
                <a:cs typeface="Consolas" pitchFamily="34" charset="-120"/>
              </a:rPr>
              <a:t>reach the right seller</a:t>
            </a:r>
            <a:pPr algn="ctr" indent="0" marL="0">
              <a:buNone/>
            </a:pPr>
            <a:r>
              <a:rPr lang="en-US" sz="1300" b="1" dirty="0">
                <a:solidFill>
                  <a:srgbClr val="37B26B"/>
                </a:solidFill>
                <a:latin typeface="Consolas" pitchFamily="34" charset="0"/>
                <a:ea typeface="Consolas" pitchFamily="34" charset="-122"/>
                <a:cs typeface="Consolas" pitchFamily="34" charset="-120"/>
              </a:rPr>
              <a:t>  →  </a:t>
            </a:r>
            <a:pPr algn="ctr" indent="0" marL="0">
              <a:buNone/>
            </a:pPr>
            <a:r>
              <a:rPr lang="en-US" sz="1300" dirty="0">
                <a:solidFill>
                  <a:srgbClr val="FFFFFF"/>
                </a:solidFill>
                <a:latin typeface="Consolas" pitchFamily="34" charset="0"/>
                <a:ea typeface="Consolas" pitchFamily="34" charset="-122"/>
                <a:cs typeface="Consolas" pitchFamily="34" charset="-120"/>
              </a:rPr>
              <a:t>win &amp; hold margin</a:t>
            </a:r>
            <a:pPr algn="ctr" indent="0" marL="0">
              <a:buNone/>
            </a:pPr>
            <a:r>
              <a:rPr lang="en-US" sz="1300" b="1" dirty="0">
                <a:solidFill>
                  <a:srgbClr val="37B26B"/>
                </a:solidFill>
                <a:latin typeface="Consolas" pitchFamily="34" charset="0"/>
                <a:ea typeface="Consolas" pitchFamily="34" charset="-122"/>
                <a:cs typeface="Consolas" pitchFamily="34" charset="-120"/>
              </a:rPr>
              <a:t>  →  </a:t>
            </a:r>
            <a:pPr algn="ctr" indent="0" marL="0">
              <a:buNone/>
            </a:pPr>
            <a:r>
              <a:rPr lang="en-US" sz="1300" dirty="0">
                <a:solidFill>
                  <a:srgbClr val="FFFFFF"/>
                </a:solidFill>
                <a:latin typeface="Consolas" pitchFamily="34" charset="0"/>
                <a:ea typeface="Consolas" pitchFamily="34" charset="-122"/>
                <a:cs typeface="Consolas" pitchFamily="34" charset="-120"/>
              </a:rPr>
              <a:t>growth</a:t>
            </a:r>
            <a:endParaRPr lang="en-US" sz="1300" dirty="0"/>
          </a:p>
        </p:txBody>
      </p:sp>
      <p:sp>
        <p:nvSpPr>
          <p:cNvPr id="7" name="Text 5"/>
          <p:cNvSpPr/>
          <p:nvPr/>
        </p:nvSpPr>
        <p:spPr>
          <a:xfrm>
            <a:off x="548640" y="6126480"/>
            <a:ext cx="11094415" cy="274320"/>
          </a:xfrm>
          <a:prstGeom prst="rect">
            <a:avLst/>
          </a:prstGeom>
          <a:noFill/>
          <a:ln/>
        </p:spPr>
        <p:txBody>
          <a:bodyPr wrap="square" rtlCol="0" anchor="ctr"/>
          <a:lstStyle/>
          <a:p>
            <a:pPr indent="0" marL="0">
              <a:buNone/>
            </a:pPr>
            <a:r>
              <a:rPr lang="en-US" sz="1100" dirty="0">
                <a:solidFill>
                  <a:srgbClr val="9DB6A8"/>
                </a:solidFill>
                <a:latin typeface="Calibri" pitchFamily="34" charset="0"/>
                <a:ea typeface="Calibri" pitchFamily="34" charset="-122"/>
                <a:cs typeface="Calibri" pitchFamily="34" charset="-120"/>
              </a:rPr>
              <a:t>Jeff Goodman   ·   Director, Sales, Owned Brands   ·   June 19, 2026   ·   Status: Discovery / wireframe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4415" cy="274320"/>
          </a:xfrm>
          <a:prstGeom prst="rect">
            <a:avLst/>
          </a:prstGeom>
          <a:noFill/>
          <a:ln/>
        </p:spPr>
        <p:txBody>
          <a:bodyPr wrap="square" rtlCol="0" anchor="ctr"/>
          <a:lstStyle/>
          <a:p>
            <a:pPr algn="l" indent="0" marL="0">
              <a:buNone/>
            </a:pPr>
            <a:r>
              <a:rPr lang="en-US" sz="1100" spc="200" kern="0" dirty="0">
                <a:solidFill>
                  <a:srgbClr val="1B7F4B"/>
                </a:solidFill>
                <a:latin typeface="Consolas" pitchFamily="34" charset="0"/>
                <a:ea typeface="Consolas" pitchFamily="34" charset="-122"/>
                <a:cs typeface="Consolas" pitchFamily="34" charset="-120"/>
              </a:rPr>
              <a:t>WHO WE ARE, AND WHAT DATA UNLOCKS</a:t>
            </a:r>
            <a:endParaRPr lang="en-US" sz="1100" dirty="0"/>
          </a:p>
        </p:txBody>
      </p:sp>
      <p:sp>
        <p:nvSpPr>
          <p:cNvPr id="3" name="Text 1"/>
          <p:cNvSpPr/>
          <p:nvPr/>
        </p:nvSpPr>
        <p:spPr>
          <a:xfrm>
            <a:off x="548640" y="713232"/>
            <a:ext cx="11094415" cy="1051560"/>
          </a:xfrm>
          <a:prstGeom prst="rect">
            <a:avLst/>
          </a:prstGeom>
          <a:noFill/>
          <a:ln/>
        </p:spPr>
        <p:txBody>
          <a:bodyPr wrap="square" rtlCol="0" anchor="ctr"/>
          <a:lstStyle/>
          <a:p>
            <a:pPr algn="l" indent="0" marL="0">
              <a:lnSpc>
                <a:spcPct val="100000"/>
              </a:lnSpc>
              <a:buNone/>
            </a:pPr>
            <a:r>
              <a:rPr lang="en-US" sz="2700" b="1" dirty="0">
                <a:solidFill>
                  <a:srgbClr val="14241C"/>
                </a:solidFill>
                <a:latin typeface="Trebuchet MS" pitchFamily="34" charset="0"/>
                <a:ea typeface="Trebuchet MS" pitchFamily="34" charset="-122"/>
                <a:cs typeface="Trebuchet MS" pitchFamily="34" charset="-120"/>
              </a:rPr>
              <a:t>Insights surfaced at the right time increase margin company-wide</a:t>
            </a:r>
            <a:endParaRPr lang="en-US" sz="2700" dirty="0"/>
          </a:p>
        </p:txBody>
      </p:sp>
      <p:sp>
        <p:nvSpPr>
          <p:cNvPr id="4" name="Shape 2"/>
          <p:cNvSpPr/>
          <p:nvPr/>
        </p:nvSpPr>
        <p:spPr>
          <a:xfrm>
            <a:off x="548640" y="2148840"/>
            <a:ext cx="3515258" cy="3108960"/>
          </a:xfrm>
          <a:prstGeom prst="roundRect">
            <a:avLst>
              <a:gd name="adj" fmla="val 2647"/>
            </a:avLst>
          </a:prstGeom>
          <a:solidFill>
            <a:srgbClr val="F4F8F5"/>
          </a:solidFill>
          <a:ln w="12700">
            <a:solidFill>
              <a:srgbClr val="DCE5DF"/>
            </a:solidFill>
            <a:prstDash val="solid"/>
          </a:ln>
        </p:spPr>
      </p:sp>
      <p:sp>
        <p:nvSpPr>
          <p:cNvPr id="5" name="Shape 3"/>
          <p:cNvSpPr/>
          <p:nvPr/>
        </p:nvSpPr>
        <p:spPr>
          <a:xfrm>
            <a:off x="868680" y="2468880"/>
            <a:ext cx="548640" cy="548640"/>
          </a:xfrm>
          <a:prstGeom prst="ellipse">
            <a:avLst/>
          </a:prstGeom>
          <a:solidFill>
            <a:srgbClr val="1B7F4B"/>
          </a:solidFill>
          <a:ln/>
        </p:spPr>
      </p:sp>
      <p:sp>
        <p:nvSpPr>
          <p:cNvPr id="6" name="Text 4"/>
          <p:cNvSpPr/>
          <p:nvPr/>
        </p:nvSpPr>
        <p:spPr>
          <a:xfrm>
            <a:off x="868680" y="246888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a:t>
            </a:r>
            <a:endParaRPr lang="en-US" sz="1800" dirty="0"/>
          </a:p>
        </p:txBody>
      </p:sp>
      <p:sp>
        <p:nvSpPr>
          <p:cNvPr id="7" name="Text 5"/>
          <p:cNvSpPr/>
          <p:nvPr/>
        </p:nvSpPr>
        <p:spPr>
          <a:xfrm>
            <a:off x="822960" y="3063240"/>
            <a:ext cx="2966618" cy="713232"/>
          </a:xfrm>
          <a:prstGeom prst="rect">
            <a:avLst/>
          </a:prstGeom>
          <a:noFill/>
          <a:ln/>
        </p:spPr>
        <p:txBody>
          <a:bodyPr wrap="square" rtlCol="0" anchor="b"/>
          <a:lstStyle/>
          <a:p>
            <a:pPr indent="0" marL="0">
              <a:buNone/>
            </a:pPr>
            <a:r>
              <a:rPr lang="en-US" sz="1600" b="1" dirty="0">
                <a:solidFill>
                  <a:srgbClr val="14241C"/>
                </a:solidFill>
                <a:latin typeface="Trebuchet MS" pitchFamily="34" charset="0"/>
                <a:ea typeface="Trebuchet MS" pitchFamily="34" charset="-122"/>
                <a:cs typeface="Trebuchet MS" pitchFamily="34" charset="-120"/>
              </a:rPr>
              <a:t>We are the Owned Brands vendor team</a:t>
            </a:r>
            <a:endParaRPr lang="en-US" sz="1600" dirty="0"/>
          </a:p>
        </p:txBody>
      </p:sp>
      <p:sp>
        <p:nvSpPr>
          <p:cNvPr id="8" name="Text 6"/>
          <p:cNvSpPr/>
          <p:nvPr/>
        </p:nvSpPr>
        <p:spPr>
          <a:xfrm>
            <a:off x="822960" y="3886200"/>
            <a:ext cx="2966618" cy="1280160"/>
          </a:xfrm>
          <a:prstGeom prst="rect">
            <a:avLst/>
          </a:prstGeom>
          <a:noFill/>
          <a:ln/>
        </p:spPr>
        <p:txBody>
          <a:bodyPr wrap="square" rtlCol="0" anchor="ctr"/>
          <a:lstStyle/>
          <a:p>
            <a:pPr indent="0" marL="0">
              <a:lnSpc>
                <a:spcPct val="105000"/>
              </a:lnSpc>
              <a:buNone/>
            </a:pPr>
            <a:r>
              <a:rPr lang="en-US" sz="1400" dirty="0">
                <a:solidFill>
                  <a:srgbClr val="586160"/>
                </a:solidFill>
                <a:latin typeface="Calibri" pitchFamily="34" charset="0"/>
                <a:ea typeface="Calibri" pitchFamily="34" charset="-122"/>
                <a:cs typeface="Calibri" pitchFamily="34" charset="-120"/>
              </a:rPr>
              <a:t>WCO is our primary customer. We call on WCO sellers and select customers to help them win with owned brands.</a:t>
            </a:r>
            <a:endParaRPr lang="en-US" sz="1400" dirty="0"/>
          </a:p>
        </p:txBody>
      </p:sp>
      <p:sp>
        <p:nvSpPr>
          <p:cNvPr id="9" name="Shape 7"/>
          <p:cNvSpPr/>
          <p:nvPr/>
        </p:nvSpPr>
        <p:spPr>
          <a:xfrm>
            <a:off x="4338218" y="2148840"/>
            <a:ext cx="3515258" cy="3108960"/>
          </a:xfrm>
          <a:prstGeom prst="roundRect">
            <a:avLst>
              <a:gd name="adj" fmla="val 2647"/>
            </a:avLst>
          </a:prstGeom>
          <a:solidFill>
            <a:srgbClr val="F4F8F5"/>
          </a:solidFill>
          <a:ln w="12700">
            <a:solidFill>
              <a:srgbClr val="DCE5DF"/>
            </a:solidFill>
            <a:prstDash val="solid"/>
          </a:ln>
        </p:spPr>
      </p:sp>
      <p:sp>
        <p:nvSpPr>
          <p:cNvPr id="10" name="Shape 8"/>
          <p:cNvSpPr/>
          <p:nvPr/>
        </p:nvSpPr>
        <p:spPr>
          <a:xfrm>
            <a:off x="4658258" y="2468880"/>
            <a:ext cx="548640" cy="548640"/>
          </a:xfrm>
          <a:prstGeom prst="ellipse">
            <a:avLst/>
          </a:prstGeom>
          <a:solidFill>
            <a:srgbClr val="1B7F4B"/>
          </a:solidFill>
          <a:ln/>
        </p:spPr>
      </p:sp>
      <p:sp>
        <p:nvSpPr>
          <p:cNvPr id="11" name="Text 9"/>
          <p:cNvSpPr/>
          <p:nvPr/>
        </p:nvSpPr>
        <p:spPr>
          <a:xfrm>
            <a:off x="4658258" y="246888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a:t>
            </a:r>
            <a:endParaRPr lang="en-US" sz="1800" dirty="0"/>
          </a:p>
        </p:txBody>
      </p:sp>
      <p:sp>
        <p:nvSpPr>
          <p:cNvPr id="12" name="Text 10"/>
          <p:cNvSpPr/>
          <p:nvPr/>
        </p:nvSpPr>
        <p:spPr>
          <a:xfrm>
            <a:off x="4612538" y="3063240"/>
            <a:ext cx="2966618" cy="713232"/>
          </a:xfrm>
          <a:prstGeom prst="rect">
            <a:avLst/>
          </a:prstGeom>
          <a:noFill/>
          <a:ln/>
        </p:spPr>
        <p:txBody>
          <a:bodyPr wrap="square" rtlCol="0" anchor="b"/>
          <a:lstStyle/>
          <a:p>
            <a:pPr indent="0" marL="0">
              <a:buNone/>
            </a:pPr>
            <a:r>
              <a:rPr lang="en-US" sz="1600" b="1" dirty="0">
                <a:solidFill>
                  <a:srgbClr val="14241C"/>
                </a:solidFill>
                <a:latin typeface="Trebuchet MS" pitchFamily="34" charset="0"/>
                <a:ea typeface="Trebuchet MS" pitchFamily="34" charset="-122"/>
                <a:cs typeface="Trebuchet MS" pitchFamily="34" charset="-120"/>
              </a:rPr>
              <a:t>Insight compounds our edge</a:t>
            </a:r>
            <a:endParaRPr lang="en-US" sz="1600" dirty="0"/>
          </a:p>
        </p:txBody>
      </p:sp>
      <p:sp>
        <p:nvSpPr>
          <p:cNvPr id="13" name="Text 11"/>
          <p:cNvSpPr/>
          <p:nvPr/>
        </p:nvSpPr>
        <p:spPr>
          <a:xfrm>
            <a:off x="4612538" y="3886200"/>
            <a:ext cx="2966618" cy="1280160"/>
          </a:xfrm>
          <a:prstGeom prst="rect">
            <a:avLst/>
          </a:prstGeom>
          <a:noFill/>
          <a:ln/>
        </p:spPr>
        <p:txBody>
          <a:bodyPr wrap="square" rtlCol="0" anchor="ctr"/>
          <a:lstStyle/>
          <a:p>
            <a:pPr indent="0" marL="0">
              <a:lnSpc>
                <a:spcPct val="105000"/>
              </a:lnSpc>
              <a:buNone/>
            </a:pPr>
            <a:r>
              <a:rPr lang="en-US" sz="1400" dirty="0">
                <a:solidFill>
                  <a:srgbClr val="586160"/>
                </a:solidFill>
                <a:latin typeface="Calibri" pitchFamily="34" charset="0"/>
                <a:ea typeface="Calibri" pitchFamily="34" charset="-122"/>
                <a:cs typeface="Calibri" pitchFamily="34" charset="-120"/>
              </a:rPr>
              <a:t>We help WCO sellers compete and win with higher margins. More data sharpens that, spotting competitive pressure early and protecting margin.</a:t>
            </a:r>
            <a:endParaRPr lang="en-US" sz="1400" dirty="0"/>
          </a:p>
        </p:txBody>
      </p:sp>
      <p:sp>
        <p:nvSpPr>
          <p:cNvPr id="14" name="Shape 12"/>
          <p:cNvSpPr/>
          <p:nvPr/>
        </p:nvSpPr>
        <p:spPr>
          <a:xfrm>
            <a:off x="8127797" y="2148840"/>
            <a:ext cx="3515258" cy="3108960"/>
          </a:xfrm>
          <a:prstGeom prst="roundRect">
            <a:avLst>
              <a:gd name="adj" fmla="val 2647"/>
            </a:avLst>
          </a:prstGeom>
          <a:solidFill>
            <a:srgbClr val="F4F8F5"/>
          </a:solidFill>
          <a:ln w="12700">
            <a:solidFill>
              <a:srgbClr val="DCE5DF"/>
            </a:solidFill>
            <a:prstDash val="solid"/>
          </a:ln>
        </p:spPr>
      </p:sp>
      <p:sp>
        <p:nvSpPr>
          <p:cNvPr id="15" name="Shape 13"/>
          <p:cNvSpPr/>
          <p:nvPr/>
        </p:nvSpPr>
        <p:spPr>
          <a:xfrm>
            <a:off x="8447837" y="2468880"/>
            <a:ext cx="548640" cy="548640"/>
          </a:xfrm>
          <a:prstGeom prst="ellipse">
            <a:avLst/>
          </a:prstGeom>
          <a:solidFill>
            <a:srgbClr val="1B7F4B"/>
          </a:solidFill>
          <a:ln/>
        </p:spPr>
      </p:sp>
      <p:sp>
        <p:nvSpPr>
          <p:cNvPr id="16" name="Text 14"/>
          <p:cNvSpPr/>
          <p:nvPr/>
        </p:nvSpPr>
        <p:spPr>
          <a:xfrm>
            <a:off x="8447837" y="246888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a:t>
            </a:r>
            <a:endParaRPr lang="en-US" sz="1800" dirty="0"/>
          </a:p>
        </p:txBody>
      </p:sp>
      <p:sp>
        <p:nvSpPr>
          <p:cNvPr id="17" name="Text 15"/>
          <p:cNvSpPr/>
          <p:nvPr/>
        </p:nvSpPr>
        <p:spPr>
          <a:xfrm>
            <a:off x="8402117" y="3063240"/>
            <a:ext cx="2966618" cy="713232"/>
          </a:xfrm>
          <a:prstGeom prst="rect">
            <a:avLst/>
          </a:prstGeom>
          <a:noFill/>
          <a:ln/>
        </p:spPr>
        <p:txBody>
          <a:bodyPr wrap="square" rtlCol="0" anchor="b"/>
          <a:lstStyle/>
          <a:p>
            <a:pPr indent="0" marL="0">
              <a:buNone/>
            </a:pPr>
            <a:r>
              <a:rPr lang="en-US" sz="1600" b="1" dirty="0">
                <a:solidFill>
                  <a:srgbClr val="14241C"/>
                </a:solidFill>
                <a:latin typeface="Trebuchet MS" pitchFamily="34" charset="0"/>
                <a:ea typeface="Trebuchet MS" pitchFamily="34" charset="-122"/>
                <a:cs typeface="Trebuchet MS" pitchFamily="34" charset="-120"/>
              </a:rPr>
              <a:t>A tool built for the vendor lens</a:t>
            </a:r>
            <a:endParaRPr lang="en-US" sz="1600" dirty="0"/>
          </a:p>
        </p:txBody>
      </p:sp>
      <p:sp>
        <p:nvSpPr>
          <p:cNvPr id="18" name="Text 16"/>
          <p:cNvSpPr/>
          <p:nvPr/>
        </p:nvSpPr>
        <p:spPr>
          <a:xfrm>
            <a:off x="8402117" y="3886200"/>
            <a:ext cx="2966618" cy="1280160"/>
          </a:xfrm>
          <a:prstGeom prst="rect">
            <a:avLst/>
          </a:prstGeom>
          <a:noFill/>
          <a:ln/>
        </p:spPr>
        <p:txBody>
          <a:bodyPr wrap="square" rtlCol="0" anchor="ctr"/>
          <a:lstStyle/>
          <a:p>
            <a:pPr indent="0" marL="0">
              <a:lnSpc>
                <a:spcPct val="105000"/>
              </a:lnSpc>
              <a:buNone/>
            </a:pPr>
            <a:r>
              <a:rPr lang="en-US" sz="1400" dirty="0">
                <a:solidFill>
                  <a:srgbClr val="586160"/>
                </a:solidFill>
                <a:latin typeface="Calibri" pitchFamily="34" charset="0"/>
                <a:ea typeface="Calibri" pitchFamily="34" charset="-122"/>
                <a:cs typeface="Calibri" pitchFamily="34" charset="-120"/>
              </a:rPr>
              <a:t>What WCO’s ERP and CRM cannot do for a vendor, this tool does, lifting win rate and margin organization-wide.</a:t>
            </a:r>
            <a:endParaRPr lang="en-US" sz="1400" dirty="0"/>
          </a:p>
        </p:txBody>
      </p:sp>
      <p:sp>
        <p:nvSpPr>
          <p:cNvPr id="19" name="Text 17"/>
          <p:cNvSpPr/>
          <p:nvPr/>
        </p:nvSpPr>
        <p:spPr>
          <a:xfrm>
            <a:off x="548640" y="5486400"/>
            <a:ext cx="11094415" cy="365760"/>
          </a:xfrm>
          <a:prstGeom prst="rect">
            <a:avLst/>
          </a:prstGeom>
          <a:noFill/>
          <a:ln/>
        </p:spPr>
        <p:txBody>
          <a:bodyPr wrap="square" rtlCol="0" anchor="ctr"/>
          <a:lstStyle/>
          <a:p>
            <a:pPr indent="0" marL="0">
              <a:buNone/>
            </a:pPr>
            <a:r>
              <a:rPr lang="en-US" sz="1500" i="1" dirty="0">
                <a:solidFill>
                  <a:srgbClr val="1B7F4B"/>
                </a:solidFill>
                <a:latin typeface="Calibri" pitchFamily="34" charset="0"/>
                <a:ea typeface="Calibri" pitchFamily="34" charset="-122"/>
                <a:cs typeface="Calibri" pitchFamily="34" charset="-120"/>
              </a:rPr>
              <a:t>The platform’s role: surface those signals and position the Owned Brands team where it can change the outcome.</a:t>
            </a:r>
            <a:endParaRPr lang="en-US" sz="1500" dirty="0"/>
          </a:p>
        </p:txBody>
      </p:sp>
      <p:sp>
        <p:nvSpPr>
          <p:cNvPr id="20" name="Text 18"/>
          <p:cNvSpPr/>
          <p:nvPr/>
        </p:nvSpPr>
        <p:spPr>
          <a:xfrm>
            <a:off x="548640" y="6473952"/>
            <a:ext cx="11094415" cy="274320"/>
          </a:xfrm>
          <a:prstGeom prst="rect">
            <a:avLst/>
          </a:prstGeom>
          <a:noFill/>
          <a:ln/>
        </p:spPr>
        <p:txBody>
          <a:bodyPr wrap="square" rtlCol="0" anchor="ctr"/>
          <a:lstStyle/>
          <a:p>
            <a:pPr algn="l" indent="0" marL="0">
              <a:buNone/>
            </a:pPr>
            <a:r>
              <a:rPr lang="en-US" sz="900" dirty="0">
                <a:solidFill>
                  <a:srgbClr val="586160"/>
                </a:solidFill>
                <a:latin typeface="Calibri" pitchFamily="34" charset="0"/>
                <a:ea typeface="Calibri" pitchFamily="34" charset="-122"/>
                <a:cs typeface="Calibri" pitchFamily="34" charset="-120"/>
              </a:rPr>
              <a:t>Owned Brands Sales Intelligence Platform</a:t>
            </a:r>
            <a:pPr algn="l" indent="0" marL="0">
              <a:buNone/>
            </a:pPr>
            <a:r>
              <a:rPr lang="en-US" sz="900" dirty="0">
                <a:solidFill>
                  <a:srgbClr val="586160"/>
                </a:solidFill>
                <a:latin typeface="Calibri" pitchFamily="34" charset="0"/>
                <a:ea typeface="Calibri" pitchFamily="34" charset="-122"/>
                <a:cs typeface="Calibri" pitchFamily="34" charset="-120"/>
              </a:rPr>
              <a:t>   ·   Confidential / Internal   ·   2 /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4415" cy="274320"/>
          </a:xfrm>
          <a:prstGeom prst="rect">
            <a:avLst/>
          </a:prstGeom>
          <a:noFill/>
          <a:ln/>
        </p:spPr>
        <p:txBody>
          <a:bodyPr wrap="square" rtlCol="0" anchor="ctr"/>
          <a:lstStyle/>
          <a:p>
            <a:pPr algn="l" indent="0" marL="0">
              <a:buNone/>
            </a:pPr>
            <a:r>
              <a:rPr lang="en-US" sz="1100" spc="200" kern="0" dirty="0">
                <a:solidFill>
                  <a:srgbClr val="1B7F4B"/>
                </a:solidFill>
                <a:latin typeface="Consolas" pitchFamily="34" charset="0"/>
                <a:ea typeface="Consolas" pitchFamily="34" charset="-122"/>
                <a:cs typeface="Consolas" pitchFamily="34" charset="-120"/>
              </a:rPr>
              <a:t>IN PRACTICE</a:t>
            </a:r>
            <a:endParaRPr lang="en-US" sz="1100" dirty="0"/>
          </a:p>
        </p:txBody>
      </p:sp>
      <p:sp>
        <p:nvSpPr>
          <p:cNvPr id="3" name="Text 1"/>
          <p:cNvSpPr/>
          <p:nvPr/>
        </p:nvSpPr>
        <p:spPr>
          <a:xfrm>
            <a:off x="548640" y="713232"/>
            <a:ext cx="11094415" cy="1051560"/>
          </a:xfrm>
          <a:prstGeom prst="rect">
            <a:avLst/>
          </a:prstGeom>
          <a:noFill/>
          <a:ln/>
        </p:spPr>
        <p:txBody>
          <a:bodyPr wrap="square" rtlCol="0" anchor="ctr"/>
          <a:lstStyle/>
          <a:p>
            <a:pPr algn="l" indent="0" marL="0">
              <a:lnSpc>
                <a:spcPct val="100000"/>
              </a:lnSpc>
              <a:buNone/>
            </a:pPr>
            <a:r>
              <a:rPr lang="en-US" sz="2700" b="1" dirty="0">
                <a:solidFill>
                  <a:srgbClr val="14241C"/>
                </a:solidFill>
                <a:latin typeface="Trebuchet MS" pitchFamily="34" charset="0"/>
                <a:ea typeface="Trebuchet MS" pitchFamily="34" charset="-122"/>
                <a:cs typeface="Trebuchet MS" pitchFamily="34" charset="-120"/>
              </a:rPr>
              <a:t>A deal we would lose today, and how the platform wins it</a:t>
            </a:r>
            <a:endParaRPr lang="en-US" sz="2700" dirty="0"/>
          </a:p>
        </p:txBody>
      </p:sp>
      <p:sp>
        <p:nvSpPr>
          <p:cNvPr id="4" name="Shape 2"/>
          <p:cNvSpPr/>
          <p:nvPr/>
        </p:nvSpPr>
        <p:spPr>
          <a:xfrm>
            <a:off x="548640" y="2240280"/>
            <a:ext cx="3362858" cy="3200400"/>
          </a:xfrm>
          <a:prstGeom prst="roundRect">
            <a:avLst>
              <a:gd name="adj" fmla="val 2571"/>
            </a:avLst>
          </a:prstGeom>
          <a:solidFill>
            <a:srgbClr val="F4F8F5"/>
          </a:solidFill>
          <a:ln w="12700">
            <a:solidFill>
              <a:srgbClr val="DCE5DF"/>
            </a:solidFill>
            <a:prstDash val="solid"/>
          </a:ln>
        </p:spPr>
      </p:sp>
      <p:sp>
        <p:nvSpPr>
          <p:cNvPr id="5" name="Text 3"/>
          <p:cNvSpPr/>
          <p:nvPr/>
        </p:nvSpPr>
        <p:spPr>
          <a:xfrm>
            <a:off x="822960" y="2468880"/>
            <a:ext cx="2814218" cy="411480"/>
          </a:xfrm>
          <a:prstGeom prst="rect">
            <a:avLst/>
          </a:prstGeom>
          <a:noFill/>
          <a:ln/>
        </p:spPr>
        <p:txBody>
          <a:bodyPr wrap="square" rtlCol="0" anchor="ctr"/>
          <a:lstStyle/>
          <a:p>
            <a:pPr indent="0" marL="0">
              <a:buNone/>
            </a:pPr>
            <a:r>
              <a:rPr lang="en-US" sz="1700" b="1" dirty="0">
                <a:solidFill>
                  <a:srgbClr val="1B7F4B"/>
                </a:solidFill>
                <a:latin typeface="Trebuchet MS" pitchFamily="34" charset="0"/>
                <a:ea typeface="Trebuchet MS" pitchFamily="34" charset="-122"/>
                <a:cs typeface="Trebuchet MS" pitchFamily="34" charset="-120"/>
              </a:rPr>
              <a:t>The deal</a:t>
            </a:r>
            <a:endParaRPr lang="en-US" sz="1700" dirty="0"/>
          </a:p>
        </p:txBody>
      </p:sp>
      <p:sp>
        <p:nvSpPr>
          <p:cNvPr id="6" name="Text 4"/>
          <p:cNvSpPr/>
          <p:nvPr/>
        </p:nvSpPr>
        <p:spPr>
          <a:xfrm>
            <a:off x="822960" y="2971800"/>
            <a:ext cx="2814218" cy="2286000"/>
          </a:xfrm>
          <a:prstGeom prst="rect">
            <a:avLst/>
          </a:prstGeom>
          <a:noFill/>
          <a:ln/>
        </p:spPr>
        <p:txBody>
          <a:bodyPr wrap="square" rtlCol="0" anchor="ctr"/>
          <a:lstStyle/>
          <a:p>
            <a:pPr indent="0" marL="0">
              <a:lnSpc>
                <a:spcPct val="112000"/>
              </a:lnSpc>
              <a:buNone/>
            </a:pPr>
            <a:r>
              <a:rPr lang="en-US" sz="1450" dirty="0">
                <a:solidFill>
                  <a:srgbClr val="14241C"/>
                </a:solidFill>
                <a:latin typeface="Calibri" pitchFamily="34" charset="0"/>
                <a:ea typeface="Calibri" pitchFamily="34" charset="-122"/>
                <a:cs typeface="Calibri" pitchFamily="34" charset="-120"/>
              </a:rPr>
              <a:t>A WCO seller specified a security project around a national-brand camera line and secured registered project pricing. The rest of the bill of materials is still open.</a:t>
            </a:r>
            <a:endParaRPr lang="en-US" sz="1450" dirty="0"/>
          </a:p>
        </p:txBody>
      </p:sp>
      <p:sp>
        <p:nvSpPr>
          <p:cNvPr id="7" name="Text 5"/>
          <p:cNvSpPr/>
          <p:nvPr/>
        </p:nvSpPr>
        <p:spPr>
          <a:xfrm>
            <a:off x="3911498" y="2240280"/>
            <a:ext cx="502920" cy="3200400"/>
          </a:xfrm>
          <a:prstGeom prst="rect">
            <a:avLst/>
          </a:prstGeom>
          <a:noFill/>
          <a:ln/>
        </p:spPr>
        <p:txBody>
          <a:bodyPr wrap="square" rtlCol="0" anchor="ctr"/>
          <a:lstStyle/>
          <a:p>
            <a:pPr algn="ctr" indent="0" marL="0">
              <a:buNone/>
            </a:pPr>
            <a:r>
              <a:rPr lang="en-US" sz="2600" b="1" dirty="0">
                <a:solidFill>
                  <a:srgbClr val="37B26B"/>
                </a:solidFill>
                <a:latin typeface="Consolas" pitchFamily="34" charset="0"/>
                <a:ea typeface="Consolas" pitchFamily="34" charset="-122"/>
                <a:cs typeface="Consolas" pitchFamily="34" charset="-120"/>
              </a:rPr>
              <a:t>→</a:t>
            </a:r>
            <a:endParaRPr lang="en-US" sz="2600" dirty="0"/>
          </a:p>
        </p:txBody>
      </p:sp>
      <p:sp>
        <p:nvSpPr>
          <p:cNvPr id="8" name="Shape 6"/>
          <p:cNvSpPr/>
          <p:nvPr/>
        </p:nvSpPr>
        <p:spPr>
          <a:xfrm>
            <a:off x="4414418" y="2240280"/>
            <a:ext cx="3362858" cy="3200400"/>
          </a:xfrm>
          <a:prstGeom prst="roundRect">
            <a:avLst>
              <a:gd name="adj" fmla="val 2571"/>
            </a:avLst>
          </a:prstGeom>
          <a:solidFill>
            <a:srgbClr val="F4F8F5"/>
          </a:solidFill>
          <a:ln w="12700">
            <a:solidFill>
              <a:srgbClr val="DCE5DF"/>
            </a:solidFill>
            <a:prstDash val="solid"/>
          </a:ln>
        </p:spPr>
      </p:sp>
      <p:sp>
        <p:nvSpPr>
          <p:cNvPr id="9" name="Text 7"/>
          <p:cNvSpPr/>
          <p:nvPr/>
        </p:nvSpPr>
        <p:spPr>
          <a:xfrm>
            <a:off x="4688738" y="2468880"/>
            <a:ext cx="2814218" cy="411480"/>
          </a:xfrm>
          <a:prstGeom prst="rect">
            <a:avLst/>
          </a:prstGeom>
          <a:noFill/>
          <a:ln/>
        </p:spPr>
        <p:txBody>
          <a:bodyPr wrap="square" rtlCol="0" anchor="ctr"/>
          <a:lstStyle/>
          <a:p>
            <a:pPr indent="0" marL="0">
              <a:buNone/>
            </a:pPr>
            <a:r>
              <a:rPr lang="en-US" sz="1700" b="1" dirty="0">
                <a:solidFill>
                  <a:srgbClr val="1B7F4B"/>
                </a:solidFill>
                <a:latin typeface="Trebuchet MS" pitchFamily="34" charset="0"/>
                <a:ea typeface="Trebuchet MS" pitchFamily="34" charset="-122"/>
                <a:cs typeface="Trebuchet MS" pitchFamily="34" charset="-120"/>
              </a:rPr>
              <a:t>The threat</a:t>
            </a:r>
            <a:endParaRPr lang="en-US" sz="1700" dirty="0"/>
          </a:p>
        </p:txBody>
      </p:sp>
      <p:sp>
        <p:nvSpPr>
          <p:cNvPr id="10" name="Text 8"/>
          <p:cNvSpPr/>
          <p:nvPr/>
        </p:nvSpPr>
        <p:spPr>
          <a:xfrm>
            <a:off x="4688738" y="2971800"/>
            <a:ext cx="2814218" cy="2286000"/>
          </a:xfrm>
          <a:prstGeom prst="rect">
            <a:avLst/>
          </a:prstGeom>
          <a:noFill/>
          <a:ln/>
        </p:spPr>
        <p:txBody>
          <a:bodyPr wrap="square" rtlCol="0" anchor="ctr"/>
          <a:lstStyle/>
          <a:p>
            <a:pPr indent="0" marL="0">
              <a:lnSpc>
                <a:spcPct val="112000"/>
              </a:lnSpc>
              <a:buNone/>
            </a:pPr>
            <a:r>
              <a:rPr lang="en-US" sz="1450" dirty="0">
                <a:solidFill>
                  <a:srgbClr val="14241C"/>
                </a:solidFill>
                <a:latin typeface="Calibri" pitchFamily="34" charset="0"/>
                <a:ea typeface="Calibri" pitchFamily="34" charset="-122"/>
                <a:cs typeface="Calibri" pitchFamily="34" charset="-120"/>
              </a:rPr>
              <a:t>A competing distributor bids the same cameras, but pairs them with its own-brand cable, power supplies, and racking. The extra margin on that hardware lets it beat our total price, despite our registered pricing.</a:t>
            </a:r>
            <a:endParaRPr lang="en-US" sz="1450" dirty="0"/>
          </a:p>
        </p:txBody>
      </p:sp>
      <p:sp>
        <p:nvSpPr>
          <p:cNvPr id="11" name="Text 9"/>
          <p:cNvSpPr/>
          <p:nvPr/>
        </p:nvSpPr>
        <p:spPr>
          <a:xfrm>
            <a:off x="7777277" y="2240280"/>
            <a:ext cx="502920" cy="3200400"/>
          </a:xfrm>
          <a:prstGeom prst="rect">
            <a:avLst/>
          </a:prstGeom>
          <a:noFill/>
          <a:ln/>
        </p:spPr>
        <p:txBody>
          <a:bodyPr wrap="square" rtlCol="0" anchor="ctr"/>
          <a:lstStyle/>
          <a:p>
            <a:pPr algn="ctr" indent="0" marL="0">
              <a:buNone/>
            </a:pPr>
            <a:r>
              <a:rPr lang="en-US" sz="2600" b="1" dirty="0">
                <a:solidFill>
                  <a:srgbClr val="37B26B"/>
                </a:solidFill>
                <a:latin typeface="Consolas" pitchFamily="34" charset="0"/>
                <a:ea typeface="Consolas" pitchFamily="34" charset="-122"/>
                <a:cs typeface="Consolas" pitchFamily="34" charset="-120"/>
              </a:rPr>
              <a:t>→</a:t>
            </a:r>
            <a:endParaRPr lang="en-US" sz="2600" dirty="0"/>
          </a:p>
        </p:txBody>
      </p:sp>
      <p:sp>
        <p:nvSpPr>
          <p:cNvPr id="12" name="Shape 10"/>
          <p:cNvSpPr/>
          <p:nvPr/>
        </p:nvSpPr>
        <p:spPr>
          <a:xfrm>
            <a:off x="8280197" y="2240280"/>
            <a:ext cx="3362858" cy="3200400"/>
          </a:xfrm>
          <a:prstGeom prst="roundRect">
            <a:avLst>
              <a:gd name="adj" fmla="val 2571"/>
            </a:avLst>
          </a:prstGeom>
          <a:solidFill>
            <a:srgbClr val="1B7F4B"/>
          </a:solidFill>
          <a:ln w="12700">
            <a:solidFill>
              <a:srgbClr val="DCE5DF"/>
            </a:solidFill>
            <a:prstDash val="solid"/>
          </a:ln>
        </p:spPr>
      </p:sp>
      <p:sp>
        <p:nvSpPr>
          <p:cNvPr id="13" name="Text 11"/>
          <p:cNvSpPr/>
          <p:nvPr/>
        </p:nvSpPr>
        <p:spPr>
          <a:xfrm>
            <a:off x="8554517" y="2468880"/>
            <a:ext cx="2814218" cy="411480"/>
          </a:xfrm>
          <a:prstGeom prst="rect">
            <a:avLst/>
          </a:prstGeom>
          <a:noFill/>
          <a:ln/>
        </p:spPr>
        <p:txBody>
          <a:bodyPr wrap="square"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How we win</a:t>
            </a:r>
            <a:endParaRPr lang="en-US" sz="1700" dirty="0"/>
          </a:p>
        </p:txBody>
      </p:sp>
      <p:sp>
        <p:nvSpPr>
          <p:cNvPr id="14" name="Text 12"/>
          <p:cNvSpPr/>
          <p:nvPr/>
        </p:nvSpPr>
        <p:spPr>
          <a:xfrm>
            <a:off x="8554517" y="2971800"/>
            <a:ext cx="2814218" cy="2286000"/>
          </a:xfrm>
          <a:prstGeom prst="rect">
            <a:avLst/>
          </a:prstGeom>
          <a:noFill/>
          <a:ln/>
        </p:spPr>
        <p:txBody>
          <a:bodyPr wrap="square" rtlCol="0" anchor="ctr"/>
          <a:lstStyle/>
          <a:p>
            <a:pPr indent="0" marL="0">
              <a:lnSpc>
                <a:spcPct val="112000"/>
              </a:lnSpc>
              <a:buNone/>
            </a:pPr>
            <a:r>
              <a:rPr lang="en-US" sz="1450" dirty="0">
                <a:solidFill>
                  <a:srgbClr val="EAF4EE"/>
                </a:solidFill>
                <a:latin typeface="Calibri" pitchFamily="34" charset="0"/>
                <a:ea typeface="Calibri" pitchFamily="34" charset="-122"/>
                <a:cs typeface="Calibri" pitchFamily="34" charset="-120"/>
              </a:rPr>
              <a:t>The platform flags this seller. The OB team helps specify Owned Brands into the bill of materials, lifting margin and sharpening total price, so WCO keeps the deal.</a:t>
            </a:r>
            <a:endParaRPr lang="en-US" sz="1450" dirty="0"/>
          </a:p>
        </p:txBody>
      </p:sp>
      <p:sp>
        <p:nvSpPr>
          <p:cNvPr id="15" name="Text 13"/>
          <p:cNvSpPr/>
          <p:nvPr/>
        </p:nvSpPr>
        <p:spPr>
          <a:xfrm>
            <a:off x="548640" y="5715000"/>
            <a:ext cx="11094415" cy="365760"/>
          </a:xfrm>
          <a:prstGeom prst="rect">
            <a:avLst/>
          </a:prstGeom>
          <a:noFill/>
          <a:ln/>
        </p:spPr>
        <p:txBody>
          <a:bodyPr wrap="square" rtlCol="0" anchor="ctr"/>
          <a:lstStyle/>
          <a:p>
            <a:pPr indent="0" marL="0">
              <a:buNone/>
            </a:pPr>
            <a:r>
              <a:rPr lang="en-US" sz="1500" i="1" dirty="0">
                <a:solidFill>
                  <a:srgbClr val="1B7F4B"/>
                </a:solidFill>
                <a:latin typeface="Calibri" pitchFamily="34" charset="0"/>
                <a:ea typeface="Calibri" pitchFamily="34" charset="-122"/>
                <a:cs typeface="Calibri" pitchFamily="34" charset="-120"/>
              </a:rPr>
              <a:t>Today no system surfaces this seller in time. Closing that gap is the platform’s core purpose.</a:t>
            </a:r>
            <a:endParaRPr lang="en-US" sz="1500" dirty="0"/>
          </a:p>
        </p:txBody>
      </p:sp>
      <p:sp>
        <p:nvSpPr>
          <p:cNvPr id="16" name="Text 14"/>
          <p:cNvSpPr/>
          <p:nvPr/>
        </p:nvSpPr>
        <p:spPr>
          <a:xfrm>
            <a:off x="548640" y="6473952"/>
            <a:ext cx="11094415" cy="274320"/>
          </a:xfrm>
          <a:prstGeom prst="rect">
            <a:avLst/>
          </a:prstGeom>
          <a:noFill/>
          <a:ln/>
        </p:spPr>
        <p:txBody>
          <a:bodyPr wrap="square" rtlCol="0" anchor="ctr"/>
          <a:lstStyle/>
          <a:p>
            <a:pPr algn="l" indent="0" marL="0">
              <a:buNone/>
            </a:pPr>
            <a:r>
              <a:rPr lang="en-US" sz="900" dirty="0">
                <a:solidFill>
                  <a:srgbClr val="586160"/>
                </a:solidFill>
                <a:latin typeface="Calibri" pitchFamily="34" charset="0"/>
                <a:ea typeface="Calibri" pitchFamily="34" charset="-122"/>
                <a:cs typeface="Calibri" pitchFamily="34" charset="-120"/>
              </a:rPr>
              <a:t>Owned Brands Sales Intelligence Platform</a:t>
            </a:r>
            <a:pPr algn="l" indent="0" marL="0">
              <a:buNone/>
            </a:pPr>
            <a:r>
              <a:rPr lang="en-US" sz="900" dirty="0">
                <a:solidFill>
                  <a:srgbClr val="586160"/>
                </a:solidFill>
                <a:latin typeface="Calibri" pitchFamily="34" charset="0"/>
                <a:ea typeface="Calibri" pitchFamily="34" charset="-122"/>
                <a:cs typeface="Calibri" pitchFamily="34" charset="-120"/>
              </a:rPr>
              <a:t>   ·   Confidential / Internal   ·   3 /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4415" cy="274320"/>
          </a:xfrm>
          <a:prstGeom prst="rect">
            <a:avLst/>
          </a:prstGeom>
          <a:noFill/>
          <a:ln/>
        </p:spPr>
        <p:txBody>
          <a:bodyPr wrap="square" rtlCol="0" anchor="ctr"/>
          <a:lstStyle/>
          <a:p>
            <a:pPr algn="l" indent="0" marL="0">
              <a:buNone/>
            </a:pPr>
            <a:r>
              <a:rPr lang="en-US" sz="1100" spc="200" kern="0" dirty="0">
                <a:solidFill>
                  <a:srgbClr val="1B7F4B"/>
                </a:solidFill>
                <a:latin typeface="Consolas" pitchFamily="34" charset="0"/>
                <a:ea typeface="Consolas" pitchFamily="34" charset="-122"/>
                <a:cs typeface="Consolas" pitchFamily="34" charset="-120"/>
              </a:rPr>
              <a:t>THE ENGINE, OUR NORTH STAR</a:t>
            </a:r>
            <a:endParaRPr lang="en-US" sz="1100" dirty="0"/>
          </a:p>
        </p:txBody>
      </p:sp>
      <p:sp>
        <p:nvSpPr>
          <p:cNvPr id="3" name="Text 1"/>
          <p:cNvSpPr/>
          <p:nvPr/>
        </p:nvSpPr>
        <p:spPr>
          <a:xfrm>
            <a:off x="548640" y="713232"/>
            <a:ext cx="11094415" cy="1051560"/>
          </a:xfrm>
          <a:prstGeom prst="rect">
            <a:avLst/>
          </a:prstGeom>
          <a:noFill/>
          <a:ln/>
        </p:spPr>
        <p:txBody>
          <a:bodyPr wrap="square" rtlCol="0" anchor="ctr"/>
          <a:lstStyle/>
          <a:p>
            <a:pPr algn="l" indent="0" marL="0">
              <a:lnSpc>
                <a:spcPct val="100000"/>
              </a:lnSpc>
              <a:buNone/>
            </a:pPr>
            <a:r>
              <a:rPr lang="en-US" sz="2700" b="1" dirty="0">
                <a:solidFill>
                  <a:srgbClr val="14241C"/>
                </a:solidFill>
                <a:latin typeface="Trebuchet MS" pitchFamily="34" charset="0"/>
                <a:ea typeface="Trebuchet MS" pitchFamily="34" charset="-122"/>
                <a:cs typeface="Trebuchet MS" pitchFamily="34" charset="-120"/>
              </a:rPr>
              <a:t>One loop moves a signal to a closed, higher-margin deal</a:t>
            </a:r>
            <a:endParaRPr lang="en-US" sz="2700" dirty="0"/>
          </a:p>
        </p:txBody>
      </p:sp>
      <p:sp>
        <p:nvSpPr>
          <p:cNvPr id="4" name="Shape 2"/>
          <p:cNvSpPr/>
          <p:nvPr/>
        </p:nvSpPr>
        <p:spPr>
          <a:xfrm>
            <a:off x="548640" y="2377440"/>
            <a:ext cx="2396414" cy="2286000"/>
          </a:xfrm>
          <a:prstGeom prst="roundRect">
            <a:avLst>
              <a:gd name="adj" fmla="val 3600"/>
            </a:avLst>
          </a:prstGeom>
          <a:solidFill>
            <a:srgbClr val="F4F8F5"/>
          </a:solidFill>
          <a:ln w="12700">
            <a:solidFill>
              <a:srgbClr val="DCE5DF"/>
            </a:solidFill>
            <a:prstDash val="solid"/>
          </a:ln>
        </p:spPr>
      </p:sp>
      <p:sp>
        <p:nvSpPr>
          <p:cNvPr id="5" name="Shape 3"/>
          <p:cNvSpPr/>
          <p:nvPr/>
        </p:nvSpPr>
        <p:spPr>
          <a:xfrm>
            <a:off x="1472527" y="2606040"/>
            <a:ext cx="548640" cy="548640"/>
          </a:xfrm>
          <a:prstGeom prst="ellipse">
            <a:avLst/>
          </a:prstGeom>
          <a:solidFill>
            <a:srgbClr val="1B7F4B"/>
          </a:solidFill>
          <a:ln/>
        </p:spPr>
      </p:sp>
      <p:sp>
        <p:nvSpPr>
          <p:cNvPr id="6" name="Text 4"/>
          <p:cNvSpPr/>
          <p:nvPr/>
        </p:nvSpPr>
        <p:spPr>
          <a:xfrm>
            <a:off x="1472527" y="260604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1</a:t>
            </a:r>
            <a:endParaRPr lang="en-US" sz="1800" dirty="0"/>
          </a:p>
        </p:txBody>
      </p:sp>
      <p:sp>
        <p:nvSpPr>
          <p:cNvPr id="7" name="Text 5"/>
          <p:cNvSpPr/>
          <p:nvPr/>
        </p:nvSpPr>
        <p:spPr>
          <a:xfrm>
            <a:off x="548640" y="3291840"/>
            <a:ext cx="2396414" cy="411480"/>
          </a:xfrm>
          <a:prstGeom prst="rect">
            <a:avLst/>
          </a:prstGeom>
          <a:noFill/>
          <a:ln/>
        </p:spPr>
        <p:txBody>
          <a:bodyPr wrap="square" rtlCol="0" anchor="ctr"/>
          <a:lstStyle/>
          <a:p>
            <a:pPr algn="ctr" indent="0" marL="0">
              <a:buNone/>
            </a:pPr>
            <a:r>
              <a:rPr lang="en-US" sz="1800" b="1" dirty="0">
                <a:solidFill>
                  <a:srgbClr val="14241C"/>
                </a:solidFill>
                <a:latin typeface="Trebuchet MS" pitchFamily="34" charset="0"/>
                <a:ea typeface="Trebuchet MS" pitchFamily="34" charset="-122"/>
                <a:cs typeface="Trebuchet MS" pitchFamily="34" charset="-120"/>
              </a:rPr>
              <a:t>Surface</a:t>
            </a:r>
            <a:endParaRPr lang="en-US" sz="1800" dirty="0"/>
          </a:p>
        </p:txBody>
      </p:sp>
      <p:sp>
        <p:nvSpPr>
          <p:cNvPr id="8" name="Text 6"/>
          <p:cNvSpPr/>
          <p:nvPr/>
        </p:nvSpPr>
        <p:spPr>
          <a:xfrm>
            <a:off x="731520" y="3749040"/>
            <a:ext cx="2030654" cy="868680"/>
          </a:xfrm>
          <a:prstGeom prst="rect">
            <a:avLst/>
          </a:prstGeom>
          <a:noFill/>
          <a:ln/>
        </p:spPr>
        <p:txBody>
          <a:bodyPr wrap="square" rtlCol="0" anchor="ctr"/>
          <a:lstStyle/>
          <a:p>
            <a:pPr algn="ctr" indent="0" marL="0">
              <a:lnSpc>
                <a:spcPct val="105000"/>
              </a:lnSpc>
              <a:buNone/>
            </a:pPr>
            <a:r>
              <a:rPr lang="en-US" sz="1300" dirty="0">
                <a:solidFill>
                  <a:srgbClr val="586160"/>
                </a:solidFill>
                <a:latin typeface="Calibri" pitchFamily="34" charset="0"/>
                <a:ea typeface="Calibri" pitchFamily="34" charset="-122"/>
                <a:cs typeface="Calibri" pitchFamily="34" charset="-120"/>
              </a:rPr>
              <a:t>A signal in the governed data: a deal at risk or margin under pressure</a:t>
            </a:r>
            <a:endParaRPr lang="en-US" sz="1300" dirty="0"/>
          </a:p>
        </p:txBody>
      </p:sp>
      <p:sp>
        <p:nvSpPr>
          <p:cNvPr id="9" name="Text 7"/>
          <p:cNvSpPr/>
          <p:nvPr/>
        </p:nvSpPr>
        <p:spPr>
          <a:xfrm>
            <a:off x="2945054" y="2377440"/>
            <a:ext cx="502920" cy="2286000"/>
          </a:xfrm>
          <a:prstGeom prst="rect">
            <a:avLst/>
          </a:prstGeom>
          <a:noFill/>
          <a:ln/>
        </p:spPr>
        <p:txBody>
          <a:bodyPr wrap="square" rtlCol="0" anchor="ctr"/>
          <a:lstStyle/>
          <a:p>
            <a:pPr algn="ctr" indent="0" marL="0">
              <a:buNone/>
            </a:pPr>
            <a:r>
              <a:rPr lang="en-US" sz="2600" b="1" dirty="0">
                <a:solidFill>
                  <a:srgbClr val="37B26B"/>
                </a:solidFill>
                <a:latin typeface="Consolas" pitchFamily="34" charset="0"/>
                <a:ea typeface="Consolas" pitchFamily="34" charset="-122"/>
                <a:cs typeface="Consolas" pitchFamily="34" charset="-120"/>
              </a:rPr>
              <a:t>→</a:t>
            </a:r>
            <a:endParaRPr lang="en-US" sz="2600" dirty="0"/>
          </a:p>
        </p:txBody>
      </p:sp>
      <p:sp>
        <p:nvSpPr>
          <p:cNvPr id="10" name="Shape 8"/>
          <p:cNvSpPr/>
          <p:nvPr/>
        </p:nvSpPr>
        <p:spPr>
          <a:xfrm>
            <a:off x="3447974" y="2377440"/>
            <a:ext cx="2396414" cy="2286000"/>
          </a:xfrm>
          <a:prstGeom prst="roundRect">
            <a:avLst>
              <a:gd name="adj" fmla="val 3600"/>
            </a:avLst>
          </a:prstGeom>
          <a:solidFill>
            <a:srgbClr val="F4F8F5"/>
          </a:solidFill>
          <a:ln w="12700">
            <a:solidFill>
              <a:srgbClr val="DCE5DF"/>
            </a:solidFill>
            <a:prstDash val="solid"/>
          </a:ln>
        </p:spPr>
      </p:sp>
      <p:sp>
        <p:nvSpPr>
          <p:cNvPr id="11" name="Shape 9"/>
          <p:cNvSpPr/>
          <p:nvPr/>
        </p:nvSpPr>
        <p:spPr>
          <a:xfrm>
            <a:off x="4371861" y="2606040"/>
            <a:ext cx="548640" cy="548640"/>
          </a:xfrm>
          <a:prstGeom prst="ellipse">
            <a:avLst/>
          </a:prstGeom>
          <a:solidFill>
            <a:srgbClr val="1B7F4B"/>
          </a:solidFill>
          <a:ln/>
        </p:spPr>
      </p:sp>
      <p:sp>
        <p:nvSpPr>
          <p:cNvPr id="12" name="Text 10"/>
          <p:cNvSpPr/>
          <p:nvPr/>
        </p:nvSpPr>
        <p:spPr>
          <a:xfrm>
            <a:off x="4371861" y="260604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2</a:t>
            </a:r>
            <a:endParaRPr lang="en-US" sz="1800" dirty="0"/>
          </a:p>
        </p:txBody>
      </p:sp>
      <p:sp>
        <p:nvSpPr>
          <p:cNvPr id="13" name="Text 11"/>
          <p:cNvSpPr/>
          <p:nvPr/>
        </p:nvSpPr>
        <p:spPr>
          <a:xfrm>
            <a:off x="3447974" y="3291840"/>
            <a:ext cx="2396414" cy="411480"/>
          </a:xfrm>
          <a:prstGeom prst="rect">
            <a:avLst/>
          </a:prstGeom>
          <a:noFill/>
          <a:ln/>
        </p:spPr>
        <p:txBody>
          <a:bodyPr wrap="square" rtlCol="0" anchor="ctr"/>
          <a:lstStyle/>
          <a:p>
            <a:pPr algn="ctr" indent="0" marL="0">
              <a:buNone/>
            </a:pPr>
            <a:r>
              <a:rPr lang="en-US" sz="1800" b="1" dirty="0">
                <a:solidFill>
                  <a:srgbClr val="14241C"/>
                </a:solidFill>
                <a:latin typeface="Trebuchet MS" pitchFamily="34" charset="0"/>
                <a:ea typeface="Trebuchet MS" pitchFamily="34" charset="-122"/>
                <a:cs typeface="Trebuchet MS" pitchFamily="34" charset="-120"/>
              </a:rPr>
              <a:t>Reach</a:t>
            </a:r>
            <a:endParaRPr lang="en-US" sz="1800" dirty="0"/>
          </a:p>
        </p:txBody>
      </p:sp>
      <p:sp>
        <p:nvSpPr>
          <p:cNvPr id="14" name="Text 12"/>
          <p:cNvSpPr/>
          <p:nvPr/>
        </p:nvSpPr>
        <p:spPr>
          <a:xfrm>
            <a:off x="3630854" y="3749040"/>
            <a:ext cx="2030654" cy="868680"/>
          </a:xfrm>
          <a:prstGeom prst="rect">
            <a:avLst/>
          </a:prstGeom>
          <a:noFill/>
          <a:ln/>
        </p:spPr>
        <p:txBody>
          <a:bodyPr wrap="square" rtlCol="0" anchor="ctr"/>
          <a:lstStyle/>
          <a:p>
            <a:pPr algn="ctr" indent="0" marL="0">
              <a:lnSpc>
                <a:spcPct val="105000"/>
              </a:lnSpc>
              <a:buNone/>
            </a:pPr>
            <a:r>
              <a:rPr lang="en-US" sz="1300" dirty="0">
                <a:solidFill>
                  <a:srgbClr val="586160"/>
                </a:solidFill>
                <a:latin typeface="Calibri" pitchFamily="34" charset="0"/>
                <a:ea typeface="Calibri" pitchFamily="34" charset="-122"/>
                <a:cs typeface="Calibri" pitchFamily="34" charset="-120"/>
              </a:rPr>
              <a:t>The right WCO seller or customer, at the right time, with the cross and context</a:t>
            </a:r>
            <a:endParaRPr lang="en-US" sz="1300" dirty="0"/>
          </a:p>
        </p:txBody>
      </p:sp>
      <p:sp>
        <p:nvSpPr>
          <p:cNvPr id="15" name="Text 13"/>
          <p:cNvSpPr/>
          <p:nvPr/>
        </p:nvSpPr>
        <p:spPr>
          <a:xfrm>
            <a:off x="5844388" y="2377440"/>
            <a:ext cx="502920" cy="2286000"/>
          </a:xfrm>
          <a:prstGeom prst="rect">
            <a:avLst/>
          </a:prstGeom>
          <a:noFill/>
          <a:ln/>
        </p:spPr>
        <p:txBody>
          <a:bodyPr wrap="square" rtlCol="0" anchor="ctr"/>
          <a:lstStyle/>
          <a:p>
            <a:pPr algn="ctr" indent="0" marL="0">
              <a:buNone/>
            </a:pPr>
            <a:r>
              <a:rPr lang="en-US" sz="2600" b="1" dirty="0">
                <a:solidFill>
                  <a:srgbClr val="37B26B"/>
                </a:solidFill>
                <a:latin typeface="Consolas" pitchFamily="34" charset="0"/>
                <a:ea typeface="Consolas" pitchFamily="34" charset="-122"/>
                <a:cs typeface="Consolas" pitchFamily="34" charset="-120"/>
              </a:rPr>
              <a:t>→</a:t>
            </a:r>
            <a:endParaRPr lang="en-US" sz="2600" dirty="0"/>
          </a:p>
        </p:txBody>
      </p:sp>
      <p:sp>
        <p:nvSpPr>
          <p:cNvPr id="16" name="Shape 14"/>
          <p:cNvSpPr/>
          <p:nvPr/>
        </p:nvSpPr>
        <p:spPr>
          <a:xfrm>
            <a:off x="6347308" y="2377440"/>
            <a:ext cx="2396414" cy="2286000"/>
          </a:xfrm>
          <a:prstGeom prst="roundRect">
            <a:avLst>
              <a:gd name="adj" fmla="val 3600"/>
            </a:avLst>
          </a:prstGeom>
          <a:solidFill>
            <a:srgbClr val="F4F8F5"/>
          </a:solidFill>
          <a:ln w="12700">
            <a:solidFill>
              <a:srgbClr val="DCE5DF"/>
            </a:solidFill>
            <a:prstDash val="solid"/>
          </a:ln>
        </p:spPr>
      </p:sp>
      <p:sp>
        <p:nvSpPr>
          <p:cNvPr id="17" name="Shape 15"/>
          <p:cNvSpPr/>
          <p:nvPr/>
        </p:nvSpPr>
        <p:spPr>
          <a:xfrm>
            <a:off x="7271195" y="2606040"/>
            <a:ext cx="548640" cy="548640"/>
          </a:xfrm>
          <a:prstGeom prst="ellipse">
            <a:avLst/>
          </a:prstGeom>
          <a:solidFill>
            <a:srgbClr val="1B7F4B"/>
          </a:solidFill>
          <a:ln/>
        </p:spPr>
      </p:sp>
      <p:sp>
        <p:nvSpPr>
          <p:cNvPr id="18" name="Text 16"/>
          <p:cNvSpPr/>
          <p:nvPr/>
        </p:nvSpPr>
        <p:spPr>
          <a:xfrm>
            <a:off x="7271195" y="260604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3</a:t>
            </a:r>
            <a:endParaRPr lang="en-US" sz="1800" dirty="0"/>
          </a:p>
        </p:txBody>
      </p:sp>
      <p:sp>
        <p:nvSpPr>
          <p:cNvPr id="19" name="Text 17"/>
          <p:cNvSpPr/>
          <p:nvPr/>
        </p:nvSpPr>
        <p:spPr>
          <a:xfrm>
            <a:off x="6347308" y="3291840"/>
            <a:ext cx="2396414" cy="411480"/>
          </a:xfrm>
          <a:prstGeom prst="rect">
            <a:avLst/>
          </a:prstGeom>
          <a:noFill/>
          <a:ln/>
        </p:spPr>
        <p:txBody>
          <a:bodyPr wrap="square" rtlCol="0" anchor="ctr"/>
          <a:lstStyle/>
          <a:p>
            <a:pPr algn="ctr" indent="0" marL="0">
              <a:buNone/>
            </a:pPr>
            <a:r>
              <a:rPr lang="en-US" sz="1800" b="1" dirty="0">
                <a:solidFill>
                  <a:srgbClr val="14241C"/>
                </a:solidFill>
                <a:latin typeface="Trebuchet MS" pitchFamily="34" charset="0"/>
                <a:ea typeface="Trebuchet MS" pitchFamily="34" charset="-122"/>
                <a:cs typeface="Trebuchet MS" pitchFamily="34" charset="-120"/>
              </a:rPr>
              <a:t>Win</a:t>
            </a:r>
            <a:endParaRPr lang="en-US" sz="1800" dirty="0"/>
          </a:p>
        </p:txBody>
      </p:sp>
      <p:sp>
        <p:nvSpPr>
          <p:cNvPr id="20" name="Text 18"/>
          <p:cNvSpPr/>
          <p:nvPr/>
        </p:nvSpPr>
        <p:spPr>
          <a:xfrm>
            <a:off x="6530188" y="3749040"/>
            <a:ext cx="2030654" cy="868680"/>
          </a:xfrm>
          <a:prstGeom prst="rect">
            <a:avLst/>
          </a:prstGeom>
          <a:noFill/>
          <a:ln/>
        </p:spPr>
        <p:txBody>
          <a:bodyPr wrap="square" rtlCol="0" anchor="ctr"/>
          <a:lstStyle/>
          <a:p>
            <a:pPr algn="ctr" indent="0" marL="0">
              <a:lnSpc>
                <a:spcPct val="105000"/>
              </a:lnSpc>
              <a:buNone/>
            </a:pPr>
            <a:r>
              <a:rPr lang="en-US" sz="1300" dirty="0">
                <a:solidFill>
                  <a:srgbClr val="586160"/>
                </a:solidFill>
                <a:latin typeface="Calibri" pitchFamily="34" charset="0"/>
                <a:ea typeface="Calibri" pitchFamily="34" charset="-122"/>
                <a:cs typeface="Calibri" pitchFamily="34" charset="-120"/>
              </a:rPr>
              <a:t>Help close the deal and protect owned-brand margin</a:t>
            </a:r>
            <a:endParaRPr lang="en-US" sz="1300" dirty="0"/>
          </a:p>
        </p:txBody>
      </p:sp>
      <p:sp>
        <p:nvSpPr>
          <p:cNvPr id="21" name="Text 19"/>
          <p:cNvSpPr/>
          <p:nvPr/>
        </p:nvSpPr>
        <p:spPr>
          <a:xfrm>
            <a:off x="8743721" y="2377440"/>
            <a:ext cx="502920" cy="2286000"/>
          </a:xfrm>
          <a:prstGeom prst="rect">
            <a:avLst/>
          </a:prstGeom>
          <a:noFill/>
          <a:ln/>
        </p:spPr>
        <p:txBody>
          <a:bodyPr wrap="square" rtlCol="0" anchor="ctr"/>
          <a:lstStyle/>
          <a:p>
            <a:pPr algn="ctr" indent="0" marL="0">
              <a:buNone/>
            </a:pPr>
            <a:r>
              <a:rPr lang="en-US" sz="2600" b="1" dirty="0">
                <a:solidFill>
                  <a:srgbClr val="37B26B"/>
                </a:solidFill>
                <a:latin typeface="Consolas" pitchFamily="34" charset="0"/>
                <a:ea typeface="Consolas" pitchFamily="34" charset="-122"/>
                <a:cs typeface="Consolas" pitchFamily="34" charset="-120"/>
              </a:rPr>
              <a:t>→</a:t>
            </a:r>
            <a:endParaRPr lang="en-US" sz="2600" dirty="0"/>
          </a:p>
        </p:txBody>
      </p:sp>
      <p:sp>
        <p:nvSpPr>
          <p:cNvPr id="22" name="Shape 20"/>
          <p:cNvSpPr/>
          <p:nvPr/>
        </p:nvSpPr>
        <p:spPr>
          <a:xfrm>
            <a:off x="9246641" y="2377440"/>
            <a:ext cx="2396414" cy="2286000"/>
          </a:xfrm>
          <a:prstGeom prst="roundRect">
            <a:avLst>
              <a:gd name="adj" fmla="val 3600"/>
            </a:avLst>
          </a:prstGeom>
          <a:solidFill>
            <a:srgbClr val="F4F8F5"/>
          </a:solidFill>
          <a:ln w="12700">
            <a:solidFill>
              <a:srgbClr val="DCE5DF"/>
            </a:solidFill>
            <a:prstDash val="solid"/>
          </a:ln>
        </p:spPr>
      </p:sp>
      <p:sp>
        <p:nvSpPr>
          <p:cNvPr id="23" name="Shape 21"/>
          <p:cNvSpPr/>
          <p:nvPr/>
        </p:nvSpPr>
        <p:spPr>
          <a:xfrm>
            <a:off x="10170528" y="2606040"/>
            <a:ext cx="548640" cy="548640"/>
          </a:xfrm>
          <a:prstGeom prst="ellipse">
            <a:avLst/>
          </a:prstGeom>
          <a:solidFill>
            <a:srgbClr val="37B26B"/>
          </a:solidFill>
          <a:ln/>
        </p:spPr>
      </p:sp>
      <p:sp>
        <p:nvSpPr>
          <p:cNvPr id="24" name="Text 22"/>
          <p:cNvSpPr/>
          <p:nvPr/>
        </p:nvSpPr>
        <p:spPr>
          <a:xfrm>
            <a:off x="10170528" y="260604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4</a:t>
            </a:r>
            <a:endParaRPr lang="en-US" sz="1800" dirty="0"/>
          </a:p>
        </p:txBody>
      </p:sp>
      <p:sp>
        <p:nvSpPr>
          <p:cNvPr id="25" name="Text 23"/>
          <p:cNvSpPr/>
          <p:nvPr/>
        </p:nvSpPr>
        <p:spPr>
          <a:xfrm>
            <a:off x="9246641" y="3291840"/>
            <a:ext cx="2396414" cy="411480"/>
          </a:xfrm>
          <a:prstGeom prst="rect">
            <a:avLst/>
          </a:prstGeom>
          <a:noFill/>
          <a:ln/>
        </p:spPr>
        <p:txBody>
          <a:bodyPr wrap="square" rtlCol="0" anchor="ctr"/>
          <a:lstStyle/>
          <a:p>
            <a:pPr algn="ctr" indent="0" marL="0">
              <a:buNone/>
            </a:pPr>
            <a:r>
              <a:rPr lang="en-US" sz="1800" b="1" dirty="0">
                <a:solidFill>
                  <a:srgbClr val="14241C"/>
                </a:solidFill>
                <a:latin typeface="Trebuchet MS" pitchFamily="34" charset="0"/>
                <a:ea typeface="Trebuchet MS" pitchFamily="34" charset="-122"/>
                <a:cs typeface="Trebuchet MS" pitchFamily="34" charset="-120"/>
              </a:rPr>
              <a:t>Grow</a:t>
            </a:r>
            <a:endParaRPr lang="en-US" sz="1800" dirty="0"/>
          </a:p>
        </p:txBody>
      </p:sp>
      <p:sp>
        <p:nvSpPr>
          <p:cNvPr id="26" name="Text 24"/>
          <p:cNvSpPr/>
          <p:nvPr/>
        </p:nvSpPr>
        <p:spPr>
          <a:xfrm>
            <a:off x="9429521" y="3749040"/>
            <a:ext cx="2030654" cy="868680"/>
          </a:xfrm>
          <a:prstGeom prst="rect">
            <a:avLst/>
          </a:prstGeom>
          <a:noFill/>
          <a:ln/>
        </p:spPr>
        <p:txBody>
          <a:bodyPr wrap="square" rtlCol="0" anchor="ctr"/>
          <a:lstStyle/>
          <a:p>
            <a:pPr algn="ctr" indent="0" marL="0">
              <a:lnSpc>
                <a:spcPct val="105000"/>
              </a:lnSpc>
              <a:buNone/>
            </a:pPr>
            <a:r>
              <a:rPr lang="en-US" sz="1300" dirty="0">
                <a:solidFill>
                  <a:srgbClr val="586160"/>
                </a:solidFill>
                <a:latin typeface="Calibri" pitchFamily="34" charset="0"/>
                <a:ea typeface="Calibri" pitchFamily="34" charset="-122"/>
                <a:cs typeface="Calibri" pitchFamily="34" charset="-120"/>
              </a:rPr>
              <a:t>Owned-brand share grows; the engagement is captured</a:t>
            </a:r>
            <a:endParaRPr lang="en-US" sz="1300" dirty="0"/>
          </a:p>
        </p:txBody>
      </p:sp>
      <p:sp>
        <p:nvSpPr>
          <p:cNvPr id="27" name="Text 25"/>
          <p:cNvSpPr/>
          <p:nvPr/>
        </p:nvSpPr>
        <p:spPr>
          <a:xfrm>
            <a:off x="548640" y="5074920"/>
            <a:ext cx="11094415" cy="731520"/>
          </a:xfrm>
          <a:prstGeom prst="rect">
            <a:avLst/>
          </a:prstGeom>
          <a:noFill/>
          <a:ln/>
        </p:spPr>
        <p:txBody>
          <a:bodyPr wrap="square" rtlCol="0" anchor="ctr"/>
          <a:lstStyle/>
          <a:p>
            <a:pPr indent="0" marL="0">
              <a:lnSpc>
                <a:spcPct val="110000"/>
              </a:lnSpc>
              <a:buNone/>
            </a:pPr>
            <a:r>
              <a:rPr lang="en-US" sz="1500" b="1" dirty="0">
                <a:solidFill>
                  <a:srgbClr val="14241C"/>
                </a:solidFill>
                <a:latin typeface="Calibri" pitchFamily="34" charset="0"/>
                <a:ea typeface="Calibri" pitchFamily="34" charset="-122"/>
                <a:cs typeface="Calibri" pitchFamily="34" charset="-120"/>
              </a:rPr>
              <a:t>The SKU is the spine. </a:t>
            </a:r>
            <a:pPr indent="0" marL="0">
              <a:lnSpc>
                <a:spcPct val="110000"/>
              </a:lnSpc>
              <a:buNone/>
            </a:pPr>
            <a:r>
              <a:rPr lang="en-US" sz="1500" dirty="0">
                <a:solidFill>
                  <a:srgbClr val="586160"/>
                </a:solidFill>
                <a:latin typeface="Calibri" pitchFamily="34" charset="0"/>
                <a:ea typeface="Calibri" pitchFamily="34" charset="-122"/>
                <a:cs typeface="Calibri" pitchFamily="34" charset="-120"/>
              </a:rPr>
              <a:t>One detail view unifies sales, stock, opportunities, crosses, and activity. Two tiers run the model: the WCO seller channel (push) and WCO customers (pull).</a:t>
            </a:r>
            <a:endParaRPr lang="en-US" sz="1500" dirty="0"/>
          </a:p>
        </p:txBody>
      </p:sp>
      <p:sp>
        <p:nvSpPr>
          <p:cNvPr id="28" name="Text 26"/>
          <p:cNvSpPr/>
          <p:nvPr/>
        </p:nvSpPr>
        <p:spPr>
          <a:xfrm>
            <a:off x="548640" y="6473952"/>
            <a:ext cx="11094415" cy="274320"/>
          </a:xfrm>
          <a:prstGeom prst="rect">
            <a:avLst/>
          </a:prstGeom>
          <a:noFill/>
          <a:ln/>
        </p:spPr>
        <p:txBody>
          <a:bodyPr wrap="square" rtlCol="0" anchor="ctr"/>
          <a:lstStyle/>
          <a:p>
            <a:pPr algn="l" indent="0" marL="0">
              <a:buNone/>
            </a:pPr>
            <a:r>
              <a:rPr lang="en-US" sz="900" dirty="0">
                <a:solidFill>
                  <a:srgbClr val="586160"/>
                </a:solidFill>
                <a:latin typeface="Calibri" pitchFamily="34" charset="0"/>
                <a:ea typeface="Calibri" pitchFamily="34" charset="-122"/>
                <a:cs typeface="Calibri" pitchFamily="34" charset="-120"/>
              </a:rPr>
              <a:t>Owned Brands Sales Intelligence Platform</a:t>
            </a:r>
            <a:pPr algn="l" indent="0" marL="0">
              <a:buNone/>
            </a:pPr>
            <a:r>
              <a:rPr lang="en-US" sz="900" dirty="0">
                <a:solidFill>
                  <a:srgbClr val="586160"/>
                </a:solidFill>
                <a:latin typeface="Calibri" pitchFamily="34" charset="0"/>
                <a:ea typeface="Calibri" pitchFamily="34" charset="-122"/>
                <a:cs typeface="Calibri" pitchFamily="34" charset="-120"/>
              </a:rPr>
              <a:t>   ·   Confidential / Internal   ·   4 / 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4415" cy="274320"/>
          </a:xfrm>
          <a:prstGeom prst="rect">
            <a:avLst/>
          </a:prstGeom>
          <a:noFill/>
          <a:ln/>
        </p:spPr>
        <p:txBody>
          <a:bodyPr wrap="square" rtlCol="0" anchor="ctr"/>
          <a:lstStyle/>
          <a:p>
            <a:pPr algn="l" indent="0" marL="0">
              <a:buNone/>
            </a:pPr>
            <a:r>
              <a:rPr lang="en-US" sz="1100" spc="200" kern="0" dirty="0">
                <a:solidFill>
                  <a:srgbClr val="1B7F4B"/>
                </a:solidFill>
                <a:latin typeface="Consolas" pitchFamily="34" charset="0"/>
                <a:ea typeface="Consolas" pitchFamily="34" charset="-122"/>
                <a:cs typeface="Consolas" pitchFamily="34" charset="-120"/>
              </a:rPr>
              <a:t>WHAT YOU GET</a:t>
            </a:r>
            <a:endParaRPr lang="en-US" sz="1100" dirty="0"/>
          </a:p>
        </p:txBody>
      </p:sp>
      <p:sp>
        <p:nvSpPr>
          <p:cNvPr id="3" name="Text 1"/>
          <p:cNvSpPr/>
          <p:nvPr/>
        </p:nvSpPr>
        <p:spPr>
          <a:xfrm>
            <a:off x="548640" y="713232"/>
            <a:ext cx="11094415" cy="1051560"/>
          </a:xfrm>
          <a:prstGeom prst="rect">
            <a:avLst/>
          </a:prstGeom>
          <a:noFill/>
          <a:ln/>
        </p:spPr>
        <p:txBody>
          <a:bodyPr wrap="square" rtlCol="0" anchor="ctr"/>
          <a:lstStyle/>
          <a:p>
            <a:pPr algn="l" indent="0" marL="0">
              <a:lnSpc>
                <a:spcPct val="100000"/>
              </a:lnSpc>
              <a:buNone/>
            </a:pPr>
            <a:r>
              <a:rPr lang="en-US" sz="2700" b="1" dirty="0">
                <a:solidFill>
                  <a:srgbClr val="14241C"/>
                </a:solidFill>
                <a:latin typeface="Trebuchet MS" pitchFamily="34" charset="0"/>
                <a:ea typeface="Trebuchet MS" pitchFamily="34" charset="-122"/>
                <a:cs typeface="Trebuchet MS" pitchFamily="34" charset="-120"/>
              </a:rPr>
              <a:t>A vendor-side platform and CRM, designed end to end</a:t>
            </a:r>
            <a:endParaRPr lang="en-US" sz="2700" dirty="0"/>
          </a:p>
        </p:txBody>
      </p:sp>
      <p:sp>
        <p:nvSpPr>
          <p:cNvPr id="4" name="Shape 2"/>
          <p:cNvSpPr/>
          <p:nvPr/>
        </p:nvSpPr>
        <p:spPr>
          <a:xfrm>
            <a:off x="548640" y="2194560"/>
            <a:ext cx="3454298" cy="1371600"/>
          </a:xfrm>
          <a:prstGeom prst="roundRect">
            <a:avLst>
              <a:gd name="adj" fmla="val 6000"/>
            </a:avLst>
          </a:prstGeom>
          <a:solidFill>
            <a:srgbClr val="F4F8F5"/>
          </a:solidFill>
          <a:ln w="12700">
            <a:solidFill>
              <a:srgbClr val="DCE5DF"/>
            </a:solidFill>
            <a:prstDash val="solid"/>
          </a:ln>
        </p:spPr>
      </p:sp>
      <p:sp>
        <p:nvSpPr>
          <p:cNvPr id="5" name="Shape 3"/>
          <p:cNvSpPr/>
          <p:nvPr/>
        </p:nvSpPr>
        <p:spPr>
          <a:xfrm>
            <a:off x="777240" y="2441448"/>
            <a:ext cx="548640" cy="548640"/>
          </a:xfrm>
          <a:prstGeom prst="ellipse">
            <a:avLst/>
          </a:prstGeom>
          <a:solidFill>
            <a:srgbClr val="1B7F4B"/>
          </a:solidFill>
          <a:ln/>
        </p:spPr>
      </p:sp>
      <p:sp>
        <p:nvSpPr>
          <p:cNvPr id="6" name="Text 4"/>
          <p:cNvSpPr/>
          <p:nvPr/>
        </p:nvSpPr>
        <p:spPr>
          <a:xfrm>
            <a:off x="777240" y="2441448"/>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a:t>
            </a:r>
            <a:endParaRPr lang="en-US" sz="1800" dirty="0"/>
          </a:p>
        </p:txBody>
      </p:sp>
      <p:sp>
        <p:nvSpPr>
          <p:cNvPr id="7" name="Text 5"/>
          <p:cNvSpPr/>
          <p:nvPr/>
        </p:nvSpPr>
        <p:spPr>
          <a:xfrm>
            <a:off x="1463040" y="2395728"/>
            <a:ext cx="2402738" cy="365760"/>
          </a:xfrm>
          <a:prstGeom prst="rect">
            <a:avLst/>
          </a:prstGeom>
          <a:noFill/>
          <a:ln/>
        </p:spPr>
        <p:txBody>
          <a:bodyPr wrap="square" rtlCol="0" anchor="ctr"/>
          <a:lstStyle/>
          <a:p>
            <a:pPr indent="0" marL="0">
              <a:buNone/>
            </a:pPr>
            <a:r>
              <a:rPr lang="en-US" sz="1500" b="1" dirty="0">
                <a:solidFill>
                  <a:srgbClr val="14241C"/>
                </a:solidFill>
                <a:latin typeface="Trebuchet MS" pitchFamily="34" charset="0"/>
                <a:ea typeface="Trebuchet MS" pitchFamily="34" charset="-122"/>
                <a:cs typeface="Trebuchet MS" pitchFamily="34" charset="-120"/>
              </a:rPr>
              <a:t>Cross database</a:t>
            </a:r>
            <a:endParaRPr lang="en-US" sz="1500" dirty="0"/>
          </a:p>
        </p:txBody>
      </p:sp>
      <p:sp>
        <p:nvSpPr>
          <p:cNvPr id="8" name="Text 6"/>
          <p:cNvSpPr/>
          <p:nvPr/>
        </p:nvSpPr>
        <p:spPr>
          <a:xfrm>
            <a:off x="1463040" y="2761488"/>
            <a:ext cx="2402738" cy="731520"/>
          </a:xfrm>
          <a:prstGeom prst="rect">
            <a:avLst/>
          </a:prstGeom>
          <a:noFill/>
          <a:ln/>
        </p:spPr>
        <p:txBody>
          <a:bodyPr wrap="square" rtlCol="0" anchor="ctr"/>
          <a:lstStyle/>
          <a:p>
            <a:pPr indent="0" marL="0">
              <a:lnSpc>
                <a:spcPct val="103000"/>
              </a:lnSpc>
              <a:buNone/>
            </a:pPr>
            <a:r>
              <a:rPr lang="en-US" sz="1250" dirty="0">
                <a:solidFill>
                  <a:srgbClr val="586160"/>
                </a:solidFill>
                <a:latin typeface="Calibri" pitchFamily="34" charset="0"/>
                <a:ea typeface="Calibri" pitchFamily="34" charset="-122"/>
                <a:cs typeface="Calibri" pitchFamily="34" charset="-120"/>
              </a:rPr>
              <a:t>Competitive product to owned-brand mapping. OB enablement, not org-wide access.</a:t>
            </a:r>
            <a:endParaRPr lang="en-US" sz="1250" dirty="0"/>
          </a:p>
        </p:txBody>
      </p:sp>
      <p:sp>
        <p:nvSpPr>
          <p:cNvPr id="9" name="Shape 7"/>
          <p:cNvSpPr/>
          <p:nvPr/>
        </p:nvSpPr>
        <p:spPr>
          <a:xfrm>
            <a:off x="4368698" y="2194560"/>
            <a:ext cx="3454298" cy="1371600"/>
          </a:xfrm>
          <a:prstGeom prst="roundRect">
            <a:avLst>
              <a:gd name="adj" fmla="val 6000"/>
            </a:avLst>
          </a:prstGeom>
          <a:solidFill>
            <a:srgbClr val="F4F8F5"/>
          </a:solidFill>
          <a:ln w="12700">
            <a:solidFill>
              <a:srgbClr val="DCE5DF"/>
            </a:solidFill>
            <a:prstDash val="solid"/>
          </a:ln>
        </p:spPr>
      </p:sp>
      <p:sp>
        <p:nvSpPr>
          <p:cNvPr id="10" name="Shape 8"/>
          <p:cNvSpPr/>
          <p:nvPr/>
        </p:nvSpPr>
        <p:spPr>
          <a:xfrm>
            <a:off x="4597298" y="2441448"/>
            <a:ext cx="548640" cy="548640"/>
          </a:xfrm>
          <a:prstGeom prst="ellipse">
            <a:avLst/>
          </a:prstGeom>
          <a:solidFill>
            <a:srgbClr val="1B7F4B"/>
          </a:solidFill>
          <a:ln/>
        </p:spPr>
      </p:sp>
      <p:sp>
        <p:nvSpPr>
          <p:cNvPr id="11" name="Text 9"/>
          <p:cNvSpPr/>
          <p:nvPr/>
        </p:nvSpPr>
        <p:spPr>
          <a:xfrm>
            <a:off x="4597298" y="2441448"/>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a:t>
            </a:r>
            <a:endParaRPr lang="en-US" sz="1800" dirty="0"/>
          </a:p>
        </p:txBody>
      </p:sp>
      <p:sp>
        <p:nvSpPr>
          <p:cNvPr id="12" name="Text 10"/>
          <p:cNvSpPr/>
          <p:nvPr/>
        </p:nvSpPr>
        <p:spPr>
          <a:xfrm>
            <a:off x="5283098" y="2395728"/>
            <a:ext cx="2402738" cy="365760"/>
          </a:xfrm>
          <a:prstGeom prst="rect">
            <a:avLst/>
          </a:prstGeom>
          <a:noFill/>
          <a:ln/>
        </p:spPr>
        <p:txBody>
          <a:bodyPr wrap="square" rtlCol="0" anchor="ctr"/>
          <a:lstStyle/>
          <a:p>
            <a:pPr indent="0" marL="0">
              <a:buNone/>
            </a:pPr>
            <a:r>
              <a:rPr lang="en-US" sz="1500" b="1" dirty="0">
                <a:solidFill>
                  <a:srgbClr val="14241C"/>
                </a:solidFill>
                <a:latin typeface="Trebuchet MS" pitchFamily="34" charset="0"/>
                <a:ea typeface="Trebuchet MS" pitchFamily="34" charset="-122"/>
                <a:cs typeface="Trebuchet MS" pitchFamily="34" charset="-120"/>
              </a:rPr>
              <a:t>Signals + supply</a:t>
            </a:r>
            <a:endParaRPr lang="en-US" sz="1500" dirty="0"/>
          </a:p>
        </p:txBody>
      </p:sp>
      <p:sp>
        <p:nvSpPr>
          <p:cNvPr id="13" name="Text 11"/>
          <p:cNvSpPr/>
          <p:nvPr/>
        </p:nvSpPr>
        <p:spPr>
          <a:xfrm>
            <a:off x="5283098" y="2761488"/>
            <a:ext cx="2402738" cy="731520"/>
          </a:xfrm>
          <a:prstGeom prst="rect">
            <a:avLst/>
          </a:prstGeom>
          <a:noFill/>
          <a:ln/>
        </p:spPr>
        <p:txBody>
          <a:bodyPr wrap="square" rtlCol="0" anchor="ctr"/>
          <a:lstStyle/>
          <a:p>
            <a:pPr indent="0" marL="0">
              <a:lnSpc>
                <a:spcPct val="103000"/>
              </a:lnSpc>
              <a:buNone/>
            </a:pPr>
            <a:r>
              <a:rPr lang="en-US" sz="1250" dirty="0">
                <a:solidFill>
                  <a:srgbClr val="586160"/>
                </a:solidFill>
                <a:latin typeface="Calibri" pitchFamily="34" charset="0"/>
                <a:ea typeface="Calibri" pitchFamily="34" charset="-122"/>
                <a:cs typeface="Calibri" pitchFamily="34" charset="-120"/>
              </a:rPr>
              <a:t>Where to engage: deals at risk, margin under pressure, and the supporting stock signal.</a:t>
            </a:r>
            <a:endParaRPr lang="en-US" sz="1250" dirty="0"/>
          </a:p>
        </p:txBody>
      </p:sp>
      <p:sp>
        <p:nvSpPr>
          <p:cNvPr id="14" name="Shape 12"/>
          <p:cNvSpPr/>
          <p:nvPr/>
        </p:nvSpPr>
        <p:spPr>
          <a:xfrm>
            <a:off x="8188757" y="2194560"/>
            <a:ext cx="3454298" cy="1371600"/>
          </a:xfrm>
          <a:prstGeom prst="roundRect">
            <a:avLst>
              <a:gd name="adj" fmla="val 6000"/>
            </a:avLst>
          </a:prstGeom>
          <a:solidFill>
            <a:srgbClr val="F4F8F5"/>
          </a:solidFill>
          <a:ln w="12700">
            <a:solidFill>
              <a:srgbClr val="DCE5DF"/>
            </a:solidFill>
            <a:prstDash val="solid"/>
          </a:ln>
        </p:spPr>
      </p:sp>
      <p:sp>
        <p:nvSpPr>
          <p:cNvPr id="15" name="Shape 13"/>
          <p:cNvSpPr/>
          <p:nvPr/>
        </p:nvSpPr>
        <p:spPr>
          <a:xfrm>
            <a:off x="8417357" y="2441448"/>
            <a:ext cx="548640" cy="548640"/>
          </a:xfrm>
          <a:prstGeom prst="ellipse">
            <a:avLst/>
          </a:prstGeom>
          <a:solidFill>
            <a:srgbClr val="1B7F4B"/>
          </a:solidFill>
          <a:ln/>
        </p:spPr>
      </p:sp>
      <p:sp>
        <p:nvSpPr>
          <p:cNvPr id="16" name="Text 14"/>
          <p:cNvSpPr/>
          <p:nvPr/>
        </p:nvSpPr>
        <p:spPr>
          <a:xfrm>
            <a:off x="8417357" y="2441448"/>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a:t>
            </a:r>
            <a:endParaRPr lang="en-US" sz="1800" dirty="0"/>
          </a:p>
        </p:txBody>
      </p:sp>
      <p:sp>
        <p:nvSpPr>
          <p:cNvPr id="17" name="Text 15"/>
          <p:cNvSpPr/>
          <p:nvPr/>
        </p:nvSpPr>
        <p:spPr>
          <a:xfrm>
            <a:off x="9103157" y="2395728"/>
            <a:ext cx="2402738" cy="365760"/>
          </a:xfrm>
          <a:prstGeom prst="rect">
            <a:avLst/>
          </a:prstGeom>
          <a:noFill/>
          <a:ln/>
        </p:spPr>
        <p:txBody>
          <a:bodyPr wrap="square" rtlCol="0" anchor="ctr"/>
          <a:lstStyle/>
          <a:p>
            <a:pPr indent="0" marL="0">
              <a:buNone/>
            </a:pPr>
            <a:r>
              <a:rPr lang="en-US" sz="1500" b="1" dirty="0">
                <a:solidFill>
                  <a:srgbClr val="14241C"/>
                </a:solidFill>
                <a:latin typeface="Trebuchet MS" pitchFamily="34" charset="0"/>
                <a:ea typeface="Trebuchet MS" pitchFamily="34" charset="-122"/>
                <a:cs typeface="Trebuchet MS" pitchFamily="34" charset="-120"/>
              </a:rPr>
              <a:t>Vendor-lens CRM</a:t>
            </a:r>
            <a:endParaRPr lang="en-US" sz="1500" dirty="0"/>
          </a:p>
        </p:txBody>
      </p:sp>
      <p:sp>
        <p:nvSpPr>
          <p:cNvPr id="18" name="Text 16"/>
          <p:cNvSpPr/>
          <p:nvPr/>
        </p:nvSpPr>
        <p:spPr>
          <a:xfrm>
            <a:off x="9103157" y="2761488"/>
            <a:ext cx="2402738" cy="731520"/>
          </a:xfrm>
          <a:prstGeom prst="rect">
            <a:avLst/>
          </a:prstGeom>
          <a:noFill/>
          <a:ln/>
        </p:spPr>
        <p:txBody>
          <a:bodyPr wrap="square" rtlCol="0" anchor="ctr"/>
          <a:lstStyle/>
          <a:p>
            <a:pPr indent="0" marL="0">
              <a:lnSpc>
                <a:spcPct val="103000"/>
              </a:lnSpc>
              <a:buNone/>
            </a:pPr>
            <a:r>
              <a:rPr lang="en-US" sz="1250" dirty="0">
                <a:solidFill>
                  <a:srgbClr val="586160"/>
                </a:solidFill>
                <a:latin typeface="Calibri" pitchFamily="34" charset="0"/>
                <a:ea typeface="Calibri" pitchFamily="34" charset="-122"/>
                <a:cs typeface="Calibri" pitchFamily="34" charset="-120"/>
              </a:rPr>
              <a:t>OB-generated opportunities and engagement with WCO sellers; intercompany activity the CRM cannot track.</a:t>
            </a:r>
            <a:endParaRPr lang="en-US" sz="1250" dirty="0"/>
          </a:p>
        </p:txBody>
      </p:sp>
      <p:sp>
        <p:nvSpPr>
          <p:cNvPr id="19" name="Shape 17"/>
          <p:cNvSpPr/>
          <p:nvPr/>
        </p:nvSpPr>
        <p:spPr>
          <a:xfrm>
            <a:off x="548640" y="3886200"/>
            <a:ext cx="3454298" cy="1371600"/>
          </a:xfrm>
          <a:prstGeom prst="roundRect">
            <a:avLst>
              <a:gd name="adj" fmla="val 6000"/>
            </a:avLst>
          </a:prstGeom>
          <a:solidFill>
            <a:srgbClr val="F4F8F5"/>
          </a:solidFill>
          <a:ln w="12700">
            <a:solidFill>
              <a:srgbClr val="DCE5DF"/>
            </a:solidFill>
            <a:prstDash val="solid"/>
          </a:ln>
        </p:spPr>
      </p:sp>
      <p:sp>
        <p:nvSpPr>
          <p:cNvPr id="20" name="Shape 18"/>
          <p:cNvSpPr/>
          <p:nvPr/>
        </p:nvSpPr>
        <p:spPr>
          <a:xfrm>
            <a:off x="777240" y="4133088"/>
            <a:ext cx="548640" cy="548640"/>
          </a:xfrm>
          <a:prstGeom prst="ellipse">
            <a:avLst/>
          </a:prstGeom>
          <a:solidFill>
            <a:srgbClr val="1B7F4B"/>
          </a:solidFill>
          <a:ln/>
        </p:spPr>
      </p:sp>
      <p:sp>
        <p:nvSpPr>
          <p:cNvPr id="21" name="Text 19"/>
          <p:cNvSpPr/>
          <p:nvPr/>
        </p:nvSpPr>
        <p:spPr>
          <a:xfrm>
            <a:off x="777240" y="4133088"/>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a:t>
            </a:r>
            <a:endParaRPr lang="en-US" sz="1800" dirty="0"/>
          </a:p>
        </p:txBody>
      </p:sp>
      <p:sp>
        <p:nvSpPr>
          <p:cNvPr id="22" name="Text 20"/>
          <p:cNvSpPr/>
          <p:nvPr/>
        </p:nvSpPr>
        <p:spPr>
          <a:xfrm>
            <a:off x="1463040" y="4087368"/>
            <a:ext cx="2402738" cy="365760"/>
          </a:xfrm>
          <a:prstGeom prst="rect">
            <a:avLst/>
          </a:prstGeom>
          <a:noFill/>
          <a:ln/>
        </p:spPr>
        <p:txBody>
          <a:bodyPr wrap="square" rtlCol="0" anchor="ctr"/>
          <a:lstStyle/>
          <a:p>
            <a:pPr indent="0" marL="0">
              <a:buNone/>
            </a:pPr>
            <a:r>
              <a:rPr lang="en-US" sz="1500" b="1" dirty="0">
                <a:solidFill>
                  <a:srgbClr val="14241C"/>
                </a:solidFill>
                <a:latin typeface="Trebuchet MS" pitchFamily="34" charset="0"/>
                <a:ea typeface="Trebuchet MS" pitchFamily="34" charset="-122"/>
                <a:cs typeface="Trebuchet MS" pitchFamily="34" charset="-120"/>
              </a:rPr>
              <a:t>AI email-drop</a:t>
            </a:r>
            <a:endParaRPr lang="en-US" sz="1500" dirty="0"/>
          </a:p>
        </p:txBody>
      </p:sp>
      <p:sp>
        <p:nvSpPr>
          <p:cNvPr id="23" name="Text 21"/>
          <p:cNvSpPr/>
          <p:nvPr/>
        </p:nvSpPr>
        <p:spPr>
          <a:xfrm>
            <a:off x="1463040" y="4453128"/>
            <a:ext cx="2402738" cy="731520"/>
          </a:xfrm>
          <a:prstGeom prst="rect">
            <a:avLst/>
          </a:prstGeom>
          <a:noFill/>
          <a:ln/>
        </p:spPr>
        <p:txBody>
          <a:bodyPr wrap="square" rtlCol="0" anchor="ctr"/>
          <a:lstStyle/>
          <a:p>
            <a:pPr indent="0" marL="0">
              <a:lnSpc>
                <a:spcPct val="103000"/>
              </a:lnSpc>
              <a:buNone/>
            </a:pPr>
            <a:r>
              <a:rPr lang="en-US" sz="1250" dirty="0">
                <a:solidFill>
                  <a:srgbClr val="586160"/>
                </a:solidFill>
                <a:latin typeface="Calibri" pitchFamily="34" charset="0"/>
                <a:ea typeface="Calibri" pitchFamily="34" charset="-122"/>
                <a:cs typeface="Calibri" pitchFamily="34" charset="-120"/>
              </a:rPr>
              <a:t>A note becomes structured records; opportunity-loss and product signals.</a:t>
            </a:r>
            <a:endParaRPr lang="en-US" sz="1250" dirty="0"/>
          </a:p>
        </p:txBody>
      </p:sp>
      <p:sp>
        <p:nvSpPr>
          <p:cNvPr id="24" name="Shape 22"/>
          <p:cNvSpPr/>
          <p:nvPr/>
        </p:nvSpPr>
        <p:spPr>
          <a:xfrm>
            <a:off x="4368698" y="3886200"/>
            <a:ext cx="3454298" cy="1371600"/>
          </a:xfrm>
          <a:prstGeom prst="roundRect">
            <a:avLst>
              <a:gd name="adj" fmla="val 6000"/>
            </a:avLst>
          </a:prstGeom>
          <a:solidFill>
            <a:srgbClr val="F4F8F5"/>
          </a:solidFill>
          <a:ln w="12700">
            <a:solidFill>
              <a:srgbClr val="DCE5DF"/>
            </a:solidFill>
            <a:prstDash val="solid"/>
          </a:ln>
        </p:spPr>
      </p:sp>
      <p:sp>
        <p:nvSpPr>
          <p:cNvPr id="25" name="Shape 23"/>
          <p:cNvSpPr/>
          <p:nvPr/>
        </p:nvSpPr>
        <p:spPr>
          <a:xfrm>
            <a:off x="4597298" y="4133088"/>
            <a:ext cx="548640" cy="548640"/>
          </a:xfrm>
          <a:prstGeom prst="ellipse">
            <a:avLst/>
          </a:prstGeom>
          <a:solidFill>
            <a:srgbClr val="1B7F4B"/>
          </a:solidFill>
          <a:ln/>
        </p:spPr>
      </p:sp>
      <p:sp>
        <p:nvSpPr>
          <p:cNvPr id="26" name="Text 24"/>
          <p:cNvSpPr/>
          <p:nvPr/>
        </p:nvSpPr>
        <p:spPr>
          <a:xfrm>
            <a:off x="4597298" y="4133088"/>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a:t>
            </a:r>
            <a:endParaRPr lang="en-US" sz="1800" dirty="0"/>
          </a:p>
        </p:txBody>
      </p:sp>
      <p:sp>
        <p:nvSpPr>
          <p:cNvPr id="27" name="Text 25"/>
          <p:cNvSpPr/>
          <p:nvPr/>
        </p:nvSpPr>
        <p:spPr>
          <a:xfrm>
            <a:off x="5283098" y="4087368"/>
            <a:ext cx="2402738" cy="365760"/>
          </a:xfrm>
          <a:prstGeom prst="rect">
            <a:avLst/>
          </a:prstGeom>
          <a:noFill/>
          <a:ln/>
        </p:spPr>
        <p:txBody>
          <a:bodyPr wrap="square" rtlCol="0" anchor="ctr"/>
          <a:lstStyle/>
          <a:p>
            <a:pPr indent="0" marL="0">
              <a:buNone/>
            </a:pPr>
            <a:r>
              <a:rPr lang="en-US" sz="1500" b="1" dirty="0">
                <a:solidFill>
                  <a:srgbClr val="14241C"/>
                </a:solidFill>
                <a:latin typeface="Trebuchet MS" pitchFamily="34" charset="0"/>
                <a:ea typeface="Trebuchet MS" pitchFamily="34" charset="-122"/>
                <a:cs typeface="Trebuchet MS" pitchFamily="34" charset="-120"/>
              </a:rPr>
              <a:t>Leadership dashboard</a:t>
            </a:r>
            <a:endParaRPr lang="en-US" sz="1500" dirty="0"/>
          </a:p>
        </p:txBody>
      </p:sp>
      <p:sp>
        <p:nvSpPr>
          <p:cNvPr id="28" name="Text 26"/>
          <p:cNvSpPr/>
          <p:nvPr/>
        </p:nvSpPr>
        <p:spPr>
          <a:xfrm>
            <a:off x="5283098" y="4453128"/>
            <a:ext cx="2402738" cy="731520"/>
          </a:xfrm>
          <a:prstGeom prst="rect">
            <a:avLst/>
          </a:prstGeom>
          <a:noFill/>
          <a:ln/>
        </p:spPr>
        <p:txBody>
          <a:bodyPr wrap="square" rtlCol="0" anchor="ctr"/>
          <a:lstStyle/>
          <a:p>
            <a:pPr indent="0" marL="0">
              <a:lnSpc>
                <a:spcPct val="103000"/>
              </a:lnSpc>
              <a:buNone/>
            </a:pPr>
            <a:r>
              <a:rPr lang="en-US" sz="1250" dirty="0">
                <a:solidFill>
                  <a:srgbClr val="586160"/>
                </a:solidFill>
                <a:latin typeface="Calibri" pitchFamily="34" charset="0"/>
                <a:ea typeface="Calibri" pitchFamily="34" charset="-122"/>
                <a:cs typeface="Calibri" pitchFamily="34" charset="-120"/>
              </a:rPr>
              <a:t>Natural-language query over the whole pipeline.</a:t>
            </a:r>
            <a:endParaRPr lang="en-US" sz="1250" dirty="0"/>
          </a:p>
        </p:txBody>
      </p:sp>
      <p:sp>
        <p:nvSpPr>
          <p:cNvPr id="29" name="Shape 27"/>
          <p:cNvSpPr/>
          <p:nvPr/>
        </p:nvSpPr>
        <p:spPr>
          <a:xfrm>
            <a:off x="8188757" y="3886200"/>
            <a:ext cx="3454298" cy="1371600"/>
          </a:xfrm>
          <a:prstGeom prst="roundRect">
            <a:avLst>
              <a:gd name="adj" fmla="val 6000"/>
            </a:avLst>
          </a:prstGeom>
          <a:solidFill>
            <a:srgbClr val="F4F8F5"/>
          </a:solidFill>
          <a:ln w="12700">
            <a:solidFill>
              <a:srgbClr val="DCE5DF"/>
            </a:solidFill>
            <a:prstDash val="solid"/>
          </a:ln>
        </p:spPr>
      </p:sp>
      <p:sp>
        <p:nvSpPr>
          <p:cNvPr id="30" name="Shape 28"/>
          <p:cNvSpPr/>
          <p:nvPr/>
        </p:nvSpPr>
        <p:spPr>
          <a:xfrm>
            <a:off x="8417357" y="4133088"/>
            <a:ext cx="548640" cy="548640"/>
          </a:xfrm>
          <a:prstGeom prst="ellipse">
            <a:avLst/>
          </a:prstGeom>
          <a:solidFill>
            <a:srgbClr val="1B7F4B"/>
          </a:solidFill>
          <a:ln/>
        </p:spPr>
      </p:sp>
      <p:sp>
        <p:nvSpPr>
          <p:cNvPr id="31" name="Text 29"/>
          <p:cNvSpPr/>
          <p:nvPr/>
        </p:nvSpPr>
        <p:spPr>
          <a:xfrm>
            <a:off x="8417357" y="4133088"/>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a:t>
            </a:r>
            <a:endParaRPr lang="en-US" sz="1800" dirty="0"/>
          </a:p>
        </p:txBody>
      </p:sp>
      <p:sp>
        <p:nvSpPr>
          <p:cNvPr id="32" name="Text 30"/>
          <p:cNvSpPr/>
          <p:nvPr/>
        </p:nvSpPr>
        <p:spPr>
          <a:xfrm>
            <a:off x="9103157" y="4087368"/>
            <a:ext cx="2402738" cy="365760"/>
          </a:xfrm>
          <a:prstGeom prst="rect">
            <a:avLst/>
          </a:prstGeom>
          <a:noFill/>
          <a:ln/>
        </p:spPr>
        <p:txBody>
          <a:bodyPr wrap="square" rtlCol="0" anchor="ctr"/>
          <a:lstStyle/>
          <a:p>
            <a:pPr indent="0" marL="0">
              <a:buNone/>
            </a:pPr>
            <a:r>
              <a:rPr lang="en-US" sz="1500" b="1" dirty="0">
                <a:solidFill>
                  <a:srgbClr val="14241C"/>
                </a:solidFill>
                <a:latin typeface="Trebuchet MS" pitchFamily="34" charset="0"/>
                <a:ea typeface="Trebuchet MS" pitchFamily="34" charset="-122"/>
                <a:cs typeface="Trebuchet MS" pitchFamily="34" charset="-120"/>
              </a:rPr>
              <a:t>Inventory &amp; forecast</a:t>
            </a:r>
            <a:endParaRPr lang="en-US" sz="1500" dirty="0"/>
          </a:p>
        </p:txBody>
      </p:sp>
      <p:sp>
        <p:nvSpPr>
          <p:cNvPr id="33" name="Text 31"/>
          <p:cNvSpPr/>
          <p:nvPr/>
        </p:nvSpPr>
        <p:spPr>
          <a:xfrm>
            <a:off x="9103157" y="4453128"/>
            <a:ext cx="2402738" cy="731520"/>
          </a:xfrm>
          <a:prstGeom prst="rect">
            <a:avLst/>
          </a:prstGeom>
          <a:noFill/>
          <a:ln/>
        </p:spPr>
        <p:txBody>
          <a:bodyPr wrap="square" rtlCol="0" anchor="ctr"/>
          <a:lstStyle/>
          <a:p>
            <a:pPr indent="0" marL="0">
              <a:lnSpc>
                <a:spcPct val="103000"/>
              </a:lnSpc>
              <a:buNone/>
            </a:pPr>
            <a:r>
              <a:rPr lang="en-US" sz="1250" dirty="0">
                <a:solidFill>
                  <a:srgbClr val="586160"/>
                </a:solidFill>
                <a:latin typeface="Calibri" pitchFamily="34" charset="0"/>
                <a:ea typeface="Calibri" pitchFamily="34" charset="-122"/>
                <a:cs typeface="Calibri" pitchFamily="34" charset="-120"/>
              </a:rPr>
              <a:t>Stock overlay with pipeline-weighted demand.</a:t>
            </a:r>
            <a:endParaRPr lang="en-US" sz="1250" dirty="0"/>
          </a:p>
        </p:txBody>
      </p:sp>
      <p:sp>
        <p:nvSpPr>
          <p:cNvPr id="34" name="Text 32"/>
          <p:cNvSpPr/>
          <p:nvPr/>
        </p:nvSpPr>
        <p:spPr>
          <a:xfrm>
            <a:off x="548640" y="5715000"/>
            <a:ext cx="11094415" cy="365760"/>
          </a:xfrm>
          <a:prstGeom prst="rect">
            <a:avLst/>
          </a:prstGeom>
          <a:noFill/>
          <a:ln/>
        </p:spPr>
        <p:txBody>
          <a:bodyPr wrap="square" rtlCol="0" anchor="ctr"/>
          <a:lstStyle/>
          <a:p>
            <a:pPr indent="0" marL="0">
              <a:buNone/>
            </a:pPr>
            <a:r>
              <a:rPr lang="en-US" sz="1400" i="1" dirty="0">
                <a:solidFill>
                  <a:srgbClr val="1B7F4B"/>
                </a:solidFill>
                <a:latin typeface="Calibri" pitchFamily="34" charset="0"/>
                <a:ea typeface="Calibri" pitchFamily="34" charset="-122"/>
                <a:cs typeface="Calibri" pitchFamily="34" charset="-120"/>
              </a:rPr>
              <a:t>By design, read-only and in-tenant; margin/cost confined to the authorized OB group.</a:t>
            </a:r>
            <a:endParaRPr lang="en-US" sz="1400" dirty="0"/>
          </a:p>
        </p:txBody>
      </p:sp>
      <p:sp>
        <p:nvSpPr>
          <p:cNvPr id="35" name="Text 33"/>
          <p:cNvSpPr/>
          <p:nvPr/>
        </p:nvSpPr>
        <p:spPr>
          <a:xfrm>
            <a:off x="548640" y="6473952"/>
            <a:ext cx="11094415" cy="274320"/>
          </a:xfrm>
          <a:prstGeom prst="rect">
            <a:avLst/>
          </a:prstGeom>
          <a:noFill/>
          <a:ln/>
        </p:spPr>
        <p:txBody>
          <a:bodyPr wrap="square" rtlCol="0" anchor="ctr"/>
          <a:lstStyle/>
          <a:p>
            <a:pPr algn="l" indent="0" marL="0">
              <a:buNone/>
            </a:pPr>
            <a:r>
              <a:rPr lang="en-US" sz="900" dirty="0">
                <a:solidFill>
                  <a:srgbClr val="586160"/>
                </a:solidFill>
                <a:latin typeface="Calibri" pitchFamily="34" charset="0"/>
                <a:ea typeface="Calibri" pitchFamily="34" charset="-122"/>
                <a:cs typeface="Calibri" pitchFamily="34" charset="-120"/>
              </a:rPr>
              <a:t>Owned Brands Sales Intelligence Platform</a:t>
            </a:r>
            <a:pPr algn="l" indent="0" marL="0">
              <a:buNone/>
            </a:pPr>
            <a:r>
              <a:rPr lang="en-US" sz="900" dirty="0">
                <a:solidFill>
                  <a:srgbClr val="586160"/>
                </a:solidFill>
                <a:latin typeface="Calibri" pitchFamily="34" charset="0"/>
                <a:ea typeface="Calibri" pitchFamily="34" charset="-122"/>
                <a:cs typeface="Calibri" pitchFamily="34" charset="-120"/>
              </a:rPr>
              <a:t>   ·   Confidential / Internal   ·   5 / 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4415" cy="274320"/>
          </a:xfrm>
          <a:prstGeom prst="rect">
            <a:avLst/>
          </a:prstGeom>
          <a:noFill/>
          <a:ln/>
        </p:spPr>
        <p:txBody>
          <a:bodyPr wrap="square" rtlCol="0" anchor="ctr"/>
          <a:lstStyle/>
          <a:p>
            <a:pPr algn="l" indent="0" marL="0">
              <a:buNone/>
            </a:pPr>
            <a:r>
              <a:rPr lang="en-US" sz="1100" spc="200" kern="0" dirty="0">
                <a:solidFill>
                  <a:srgbClr val="1B7F4B"/>
                </a:solidFill>
                <a:latin typeface="Consolas" pitchFamily="34" charset="0"/>
                <a:ea typeface="Consolas" pitchFamily="34" charset="-122"/>
                <a:cs typeface="Consolas" pitchFamily="34" charset="-120"/>
              </a:rPr>
              <a:t>THE DESIGN</a:t>
            </a:r>
            <a:endParaRPr lang="en-US" sz="1100" dirty="0"/>
          </a:p>
        </p:txBody>
      </p:sp>
      <p:sp>
        <p:nvSpPr>
          <p:cNvPr id="3" name="Text 1"/>
          <p:cNvSpPr/>
          <p:nvPr/>
        </p:nvSpPr>
        <p:spPr>
          <a:xfrm>
            <a:off x="548640" y="713232"/>
            <a:ext cx="11094415" cy="1051560"/>
          </a:xfrm>
          <a:prstGeom prst="rect">
            <a:avLst/>
          </a:prstGeom>
          <a:noFill/>
          <a:ln/>
        </p:spPr>
        <p:txBody>
          <a:bodyPr wrap="square" rtlCol="0" anchor="ctr"/>
          <a:lstStyle/>
          <a:p>
            <a:pPr algn="l" indent="0" marL="0">
              <a:lnSpc>
                <a:spcPct val="100000"/>
              </a:lnSpc>
              <a:buNone/>
            </a:pPr>
            <a:r>
              <a:rPr lang="en-US" sz="2700" b="1" dirty="0">
                <a:solidFill>
                  <a:srgbClr val="14241C"/>
                </a:solidFill>
                <a:latin typeface="Trebuchet MS" pitchFamily="34" charset="0"/>
                <a:ea typeface="Trebuchet MS" pitchFamily="34" charset="-122"/>
                <a:cs typeface="Trebuchet MS" pitchFamily="34" charset="-120"/>
              </a:rPr>
              <a:t>The leadership view, wireframed</a:t>
            </a:r>
            <a:endParaRPr lang="en-US" sz="2700" dirty="0"/>
          </a:p>
        </p:txBody>
      </p:sp>
      <p:sp>
        <p:nvSpPr>
          <p:cNvPr id="4" name="Shape 2"/>
          <p:cNvSpPr/>
          <p:nvPr/>
        </p:nvSpPr>
        <p:spPr>
          <a:xfrm>
            <a:off x="484632" y="1444752"/>
            <a:ext cx="6483096" cy="4541266"/>
          </a:xfrm>
          <a:prstGeom prst="roundRect">
            <a:avLst>
              <a:gd name="adj" fmla="val 805"/>
            </a:avLst>
          </a:prstGeom>
          <a:solidFill>
            <a:srgbClr val="EAF4EE"/>
          </a:solidFill>
          <a:ln w="12700">
            <a:solidFill>
              <a:srgbClr val="DCE5DF"/>
            </a:solidFill>
            <a:prstDash val="solid"/>
          </a:ln>
        </p:spPr>
      </p:sp>
      <p:pic>
        <p:nvPicPr>
          <p:cNvPr id="5" name="Image 0" descr="/Users/jeffgoodman/Documents/Dataverse/Board pitch/prototype_shot.png">    </p:cNvPr>
          <p:cNvPicPr>
            <a:picLocks noChangeAspect="1"/>
          </p:cNvPicPr>
          <p:nvPr/>
        </p:nvPicPr>
        <p:blipFill>
          <a:blip r:embed="rId1"/>
          <a:stretch>
            <a:fillRect/>
          </a:stretch>
        </p:blipFill>
        <p:spPr>
          <a:xfrm>
            <a:off x="548640" y="1508760"/>
            <a:ext cx="6355080" cy="4413250"/>
          </a:xfrm>
          <a:prstGeom prst="rect">
            <a:avLst/>
          </a:prstGeom>
        </p:spPr>
      </p:pic>
      <p:sp>
        <p:nvSpPr>
          <p:cNvPr id="6" name="Shape 3"/>
          <p:cNvSpPr/>
          <p:nvPr/>
        </p:nvSpPr>
        <p:spPr>
          <a:xfrm>
            <a:off x="7315200" y="1600200"/>
            <a:ext cx="548640" cy="548640"/>
          </a:xfrm>
          <a:prstGeom prst="ellipse">
            <a:avLst/>
          </a:prstGeom>
          <a:solidFill>
            <a:srgbClr val="1B7F4B"/>
          </a:solidFill>
          <a:ln/>
        </p:spPr>
      </p:sp>
      <p:sp>
        <p:nvSpPr>
          <p:cNvPr id="7" name="Text 4"/>
          <p:cNvSpPr/>
          <p:nvPr/>
        </p:nvSpPr>
        <p:spPr>
          <a:xfrm>
            <a:off x="7315200" y="160020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1</a:t>
            </a:r>
            <a:endParaRPr lang="en-US" sz="1800" dirty="0"/>
          </a:p>
        </p:txBody>
      </p:sp>
      <p:sp>
        <p:nvSpPr>
          <p:cNvPr id="8" name="Text 5"/>
          <p:cNvSpPr/>
          <p:nvPr/>
        </p:nvSpPr>
        <p:spPr>
          <a:xfrm>
            <a:off x="8028432" y="1581912"/>
            <a:ext cx="3614623" cy="365760"/>
          </a:xfrm>
          <a:prstGeom prst="rect">
            <a:avLst/>
          </a:prstGeom>
          <a:noFill/>
          <a:ln/>
        </p:spPr>
        <p:txBody>
          <a:bodyPr wrap="square" rtlCol="0" anchor="ctr"/>
          <a:lstStyle/>
          <a:p>
            <a:pPr indent="0" marL="0">
              <a:buNone/>
            </a:pPr>
            <a:r>
              <a:rPr lang="en-US" sz="1500" b="1" dirty="0">
                <a:solidFill>
                  <a:srgbClr val="14241C"/>
                </a:solidFill>
                <a:latin typeface="Trebuchet MS" pitchFamily="34" charset="0"/>
                <a:ea typeface="Trebuchet MS" pitchFamily="34" charset="-122"/>
                <a:cs typeface="Trebuchet MS" pitchFamily="34" charset="-120"/>
              </a:rPr>
              <a:t>Conversion value loop</a:t>
            </a:r>
            <a:endParaRPr lang="en-US" sz="1500" dirty="0"/>
          </a:p>
        </p:txBody>
      </p:sp>
      <p:sp>
        <p:nvSpPr>
          <p:cNvPr id="9" name="Text 6"/>
          <p:cNvSpPr/>
          <p:nvPr/>
        </p:nvSpPr>
        <p:spPr>
          <a:xfrm>
            <a:off x="8028432" y="1947672"/>
            <a:ext cx="3614623" cy="731520"/>
          </a:xfrm>
          <a:prstGeom prst="rect">
            <a:avLst/>
          </a:prstGeom>
          <a:noFill/>
          <a:ln/>
        </p:spPr>
        <p:txBody>
          <a:bodyPr wrap="square" rtlCol="0" anchor="ctr"/>
          <a:lstStyle/>
          <a:p>
            <a:pPr indent="0" marL="0">
              <a:lnSpc>
                <a:spcPct val="105000"/>
              </a:lnSpc>
              <a:buNone/>
            </a:pPr>
            <a:r>
              <a:rPr lang="en-US" sz="1300" dirty="0">
                <a:solidFill>
                  <a:srgbClr val="586160"/>
                </a:solidFill>
                <a:latin typeface="Calibri" pitchFamily="34" charset="0"/>
                <a:ea typeface="Calibri" pitchFamily="34" charset="-122"/>
                <a:cs typeface="Calibri" pitchFamily="34" charset="-120"/>
              </a:rPr>
              <a:t>Identified → crossed → in progress → converted, tracked live.</a:t>
            </a:r>
            <a:endParaRPr lang="en-US" sz="1300" dirty="0"/>
          </a:p>
        </p:txBody>
      </p:sp>
      <p:sp>
        <p:nvSpPr>
          <p:cNvPr id="10" name="Shape 7"/>
          <p:cNvSpPr/>
          <p:nvPr/>
        </p:nvSpPr>
        <p:spPr>
          <a:xfrm>
            <a:off x="7315200" y="2834640"/>
            <a:ext cx="548640" cy="548640"/>
          </a:xfrm>
          <a:prstGeom prst="ellipse">
            <a:avLst/>
          </a:prstGeom>
          <a:solidFill>
            <a:srgbClr val="1B7F4B"/>
          </a:solidFill>
          <a:ln/>
        </p:spPr>
      </p:sp>
      <p:sp>
        <p:nvSpPr>
          <p:cNvPr id="11" name="Text 8"/>
          <p:cNvSpPr/>
          <p:nvPr/>
        </p:nvSpPr>
        <p:spPr>
          <a:xfrm>
            <a:off x="7315200" y="283464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2</a:t>
            </a:r>
            <a:endParaRPr lang="en-US" sz="1800" dirty="0"/>
          </a:p>
        </p:txBody>
      </p:sp>
      <p:sp>
        <p:nvSpPr>
          <p:cNvPr id="12" name="Text 9"/>
          <p:cNvSpPr/>
          <p:nvPr/>
        </p:nvSpPr>
        <p:spPr>
          <a:xfrm>
            <a:off x="8028432" y="2816352"/>
            <a:ext cx="3614623" cy="365760"/>
          </a:xfrm>
          <a:prstGeom prst="rect">
            <a:avLst/>
          </a:prstGeom>
          <a:noFill/>
          <a:ln/>
        </p:spPr>
        <p:txBody>
          <a:bodyPr wrap="square" rtlCol="0" anchor="ctr"/>
          <a:lstStyle/>
          <a:p>
            <a:pPr indent="0" marL="0">
              <a:buNone/>
            </a:pPr>
            <a:r>
              <a:rPr lang="en-US" sz="1500" b="1" dirty="0">
                <a:solidFill>
                  <a:srgbClr val="14241C"/>
                </a:solidFill>
                <a:latin typeface="Trebuchet MS" pitchFamily="34" charset="0"/>
                <a:ea typeface="Trebuchet MS" pitchFamily="34" charset="-122"/>
                <a:cs typeface="Trebuchet MS" pitchFamily="34" charset="-120"/>
              </a:rPr>
              <a:t>Pipeline by owned brand</a:t>
            </a:r>
            <a:endParaRPr lang="en-US" sz="1500" dirty="0"/>
          </a:p>
        </p:txBody>
      </p:sp>
      <p:sp>
        <p:nvSpPr>
          <p:cNvPr id="13" name="Text 10"/>
          <p:cNvSpPr/>
          <p:nvPr/>
        </p:nvSpPr>
        <p:spPr>
          <a:xfrm>
            <a:off x="8028432" y="3182112"/>
            <a:ext cx="3614623" cy="731520"/>
          </a:xfrm>
          <a:prstGeom prst="rect">
            <a:avLst/>
          </a:prstGeom>
          <a:noFill/>
          <a:ln/>
        </p:spPr>
        <p:txBody>
          <a:bodyPr wrap="square" rtlCol="0" anchor="ctr"/>
          <a:lstStyle/>
          <a:p>
            <a:pPr indent="0" marL="0">
              <a:lnSpc>
                <a:spcPct val="105000"/>
              </a:lnSpc>
              <a:buNone/>
            </a:pPr>
            <a:r>
              <a:rPr lang="en-US" sz="1300" dirty="0">
                <a:solidFill>
                  <a:srgbClr val="586160"/>
                </a:solidFill>
                <a:latin typeface="Calibri" pitchFamily="34" charset="0"/>
                <a:ea typeface="Calibri" pitchFamily="34" charset="-122"/>
                <a:cs typeface="Calibri" pitchFamily="34" charset="-120"/>
              </a:rPr>
              <a:t>LCO AV, LCO Cable and more, ranked by open opportunity.</a:t>
            </a:r>
            <a:endParaRPr lang="en-US" sz="1300" dirty="0"/>
          </a:p>
        </p:txBody>
      </p:sp>
      <p:sp>
        <p:nvSpPr>
          <p:cNvPr id="14" name="Shape 11"/>
          <p:cNvSpPr/>
          <p:nvPr/>
        </p:nvSpPr>
        <p:spPr>
          <a:xfrm>
            <a:off x="7315200" y="4069080"/>
            <a:ext cx="548640" cy="548640"/>
          </a:xfrm>
          <a:prstGeom prst="ellipse">
            <a:avLst/>
          </a:prstGeom>
          <a:solidFill>
            <a:srgbClr val="1B7F4B"/>
          </a:solidFill>
          <a:ln/>
        </p:spPr>
      </p:sp>
      <p:sp>
        <p:nvSpPr>
          <p:cNvPr id="15" name="Text 12"/>
          <p:cNvSpPr/>
          <p:nvPr/>
        </p:nvSpPr>
        <p:spPr>
          <a:xfrm>
            <a:off x="7315200" y="406908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3</a:t>
            </a:r>
            <a:endParaRPr lang="en-US" sz="1800" dirty="0"/>
          </a:p>
        </p:txBody>
      </p:sp>
      <p:sp>
        <p:nvSpPr>
          <p:cNvPr id="16" name="Text 13"/>
          <p:cNvSpPr/>
          <p:nvPr/>
        </p:nvSpPr>
        <p:spPr>
          <a:xfrm>
            <a:off x="8028432" y="4050792"/>
            <a:ext cx="3614623" cy="365760"/>
          </a:xfrm>
          <a:prstGeom prst="rect">
            <a:avLst/>
          </a:prstGeom>
          <a:noFill/>
          <a:ln/>
        </p:spPr>
        <p:txBody>
          <a:bodyPr wrap="square" rtlCol="0" anchor="ctr"/>
          <a:lstStyle/>
          <a:p>
            <a:pPr indent="0" marL="0">
              <a:buNone/>
            </a:pPr>
            <a:r>
              <a:rPr lang="en-US" sz="1500" b="1" dirty="0">
                <a:solidFill>
                  <a:srgbClr val="14241C"/>
                </a:solidFill>
                <a:latin typeface="Trebuchet MS" pitchFamily="34" charset="0"/>
                <a:ea typeface="Trebuchet MS" pitchFamily="34" charset="-122"/>
                <a:cs typeface="Trebuchet MS" pitchFamily="34" charset="-120"/>
              </a:rPr>
              <a:t>Engagement by party</a:t>
            </a:r>
            <a:endParaRPr lang="en-US" sz="1500" dirty="0"/>
          </a:p>
        </p:txBody>
      </p:sp>
      <p:sp>
        <p:nvSpPr>
          <p:cNvPr id="17" name="Text 14"/>
          <p:cNvSpPr/>
          <p:nvPr/>
        </p:nvSpPr>
        <p:spPr>
          <a:xfrm>
            <a:off x="8028432" y="4416552"/>
            <a:ext cx="3614623" cy="731520"/>
          </a:xfrm>
          <a:prstGeom prst="rect">
            <a:avLst/>
          </a:prstGeom>
          <a:noFill/>
          <a:ln/>
        </p:spPr>
        <p:txBody>
          <a:bodyPr wrap="square" rtlCol="0" anchor="ctr"/>
          <a:lstStyle/>
          <a:p>
            <a:pPr indent="0" marL="0">
              <a:lnSpc>
                <a:spcPct val="105000"/>
              </a:lnSpc>
              <a:buNone/>
            </a:pPr>
            <a:r>
              <a:rPr lang="en-US" sz="1300" dirty="0">
                <a:solidFill>
                  <a:srgbClr val="586160"/>
                </a:solidFill>
                <a:latin typeface="Calibri" pitchFamily="34" charset="0"/>
                <a:ea typeface="Calibri" pitchFamily="34" charset="-122"/>
                <a:cs typeface="Calibri" pitchFamily="34" charset="-120"/>
              </a:rPr>
              <a:t>Calls, visits, demos logged for the WCO seller and customer.</a:t>
            </a:r>
            <a:endParaRPr lang="en-US" sz="1300" dirty="0"/>
          </a:p>
        </p:txBody>
      </p:sp>
      <p:sp>
        <p:nvSpPr>
          <p:cNvPr id="18" name="Text 15"/>
          <p:cNvSpPr/>
          <p:nvPr/>
        </p:nvSpPr>
        <p:spPr>
          <a:xfrm>
            <a:off x="548640" y="6053328"/>
            <a:ext cx="11094415" cy="320040"/>
          </a:xfrm>
          <a:prstGeom prst="rect">
            <a:avLst/>
          </a:prstGeom>
          <a:noFill/>
          <a:ln/>
        </p:spPr>
        <p:txBody>
          <a:bodyPr wrap="square" rtlCol="0" anchor="ctr"/>
          <a:lstStyle/>
          <a:p>
            <a:pPr indent="0" marL="0">
              <a:buNone/>
            </a:pPr>
            <a:r>
              <a:rPr lang="en-US" sz="1300" i="1" dirty="0">
                <a:solidFill>
                  <a:srgbClr val="1B7F4B"/>
                </a:solidFill>
                <a:latin typeface="Calibri" pitchFamily="34" charset="0"/>
                <a:ea typeface="Calibri" pitchFamily="34" charset="-122"/>
                <a:cs typeface="Calibri" pitchFamily="34" charset="-120"/>
              </a:rPr>
              <a:t>A wireframe of the two-persona design (Leadership + Sales Team) on sample data. It shows the intended experience, not a built product.</a:t>
            </a:r>
            <a:endParaRPr lang="en-US" sz="1300" dirty="0"/>
          </a:p>
        </p:txBody>
      </p:sp>
      <p:sp>
        <p:nvSpPr>
          <p:cNvPr id="19" name="Text 16"/>
          <p:cNvSpPr/>
          <p:nvPr/>
        </p:nvSpPr>
        <p:spPr>
          <a:xfrm>
            <a:off x="548640" y="6473952"/>
            <a:ext cx="11094415" cy="274320"/>
          </a:xfrm>
          <a:prstGeom prst="rect">
            <a:avLst/>
          </a:prstGeom>
          <a:noFill/>
          <a:ln/>
        </p:spPr>
        <p:txBody>
          <a:bodyPr wrap="square" rtlCol="0" anchor="ctr"/>
          <a:lstStyle/>
          <a:p>
            <a:pPr algn="l" indent="0" marL="0">
              <a:buNone/>
            </a:pPr>
            <a:r>
              <a:rPr lang="en-US" sz="900" dirty="0">
                <a:solidFill>
                  <a:srgbClr val="586160"/>
                </a:solidFill>
                <a:latin typeface="Calibri" pitchFamily="34" charset="0"/>
                <a:ea typeface="Calibri" pitchFamily="34" charset="-122"/>
                <a:cs typeface="Calibri" pitchFamily="34" charset="-120"/>
              </a:rPr>
              <a:t>Owned Brands Sales Intelligence Platform</a:t>
            </a:r>
            <a:pPr algn="l" indent="0" marL="0">
              <a:buNone/>
            </a:pPr>
            <a:r>
              <a:rPr lang="en-US" sz="900" dirty="0">
                <a:solidFill>
                  <a:srgbClr val="586160"/>
                </a:solidFill>
                <a:latin typeface="Calibri" pitchFamily="34" charset="0"/>
                <a:ea typeface="Calibri" pitchFamily="34" charset="-122"/>
                <a:cs typeface="Calibri" pitchFamily="34" charset="-120"/>
              </a:rPr>
              <a:t>   ·   Confidential / Internal   ·   6 / 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4415" cy="274320"/>
          </a:xfrm>
          <a:prstGeom prst="rect">
            <a:avLst/>
          </a:prstGeom>
          <a:noFill/>
          <a:ln/>
        </p:spPr>
        <p:txBody>
          <a:bodyPr wrap="square" rtlCol="0" anchor="ctr"/>
          <a:lstStyle/>
          <a:p>
            <a:pPr algn="l" indent="0" marL="0">
              <a:buNone/>
            </a:pPr>
            <a:r>
              <a:rPr lang="en-US" sz="1100" spc="200" kern="0" dirty="0">
                <a:solidFill>
                  <a:srgbClr val="1B7F4B"/>
                </a:solidFill>
                <a:latin typeface="Consolas" pitchFamily="34" charset="0"/>
                <a:ea typeface="Consolas" pitchFamily="34" charset="-122"/>
                <a:cs typeface="Consolas" pitchFamily="34" charset="-120"/>
              </a:rPr>
              <a:t>WHY NOW</a:t>
            </a:r>
            <a:endParaRPr lang="en-US" sz="1100" dirty="0"/>
          </a:p>
        </p:txBody>
      </p:sp>
      <p:sp>
        <p:nvSpPr>
          <p:cNvPr id="3" name="Text 1"/>
          <p:cNvSpPr/>
          <p:nvPr/>
        </p:nvSpPr>
        <p:spPr>
          <a:xfrm>
            <a:off x="548640" y="713232"/>
            <a:ext cx="11094415" cy="1051560"/>
          </a:xfrm>
          <a:prstGeom prst="rect">
            <a:avLst/>
          </a:prstGeom>
          <a:noFill/>
          <a:ln/>
        </p:spPr>
        <p:txBody>
          <a:bodyPr wrap="square" rtlCol="0" anchor="ctr"/>
          <a:lstStyle/>
          <a:p>
            <a:pPr algn="l" indent="0" marL="0">
              <a:lnSpc>
                <a:spcPct val="100000"/>
              </a:lnSpc>
              <a:buNone/>
            </a:pPr>
            <a:r>
              <a:rPr lang="en-US" sz="2700" b="1" dirty="0">
                <a:solidFill>
                  <a:srgbClr val="14241C"/>
                </a:solidFill>
                <a:latin typeface="Trebuchet MS" pitchFamily="34" charset="0"/>
                <a:ea typeface="Trebuchet MS" pitchFamily="34" charset="-122"/>
                <a:cs typeface="Trebuchet MS" pitchFamily="34" charset="-120"/>
              </a:rPr>
              <a:t>The team is built to execute; this tool is the growth engine</a:t>
            </a:r>
            <a:endParaRPr lang="en-US" sz="2700" dirty="0"/>
          </a:p>
        </p:txBody>
      </p:sp>
      <p:sp>
        <p:nvSpPr>
          <p:cNvPr id="4" name="Text 2"/>
          <p:cNvSpPr/>
          <p:nvPr/>
        </p:nvSpPr>
        <p:spPr>
          <a:xfrm>
            <a:off x="548640" y="2286000"/>
            <a:ext cx="6400800" cy="1097280"/>
          </a:xfrm>
          <a:prstGeom prst="rect">
            <a:avLst/>
          </a:prstGeom>
          <a:noFill/>
          <a:ln/>
        </p:spPr>
        <p:txBody>
          <a:bodyPr wrap="square" rtlCol="0" anchor="ctr"/>
          <a:lstStyle/>
          <a:p>
            <a:pPr indent="0" marL="0">
              <a:lnSpc>
                <a:spcPct val="115000"/>
              </a:lnSpc>
              <a:buNone/>
            </a:pPr>
            <a:r>
              <a:rPr lang="en-US" sz="1700" b="1" dirty="0">
                <a:solidFill>
                  <a:srgbClr val="14241C"/>
                </a:solidFill>
                <a:latin typeface="Calibri" pitchFamily="34" charset="0"/>
                <a:ea typeface="Calibri" pitchFamily="34" charset="-122"/>
                <a:cs typeface="Calibri" pitchFamily="34" charset="-120"/>
              </a:rPr>
              <a:t>We have integrated the LCO sales organization</a:t>
            </a:r>
            <a:pPr indent="0" marL="0">
              <a:lnSpc>
                <a:spcPct val="115000"/>
              </a:lnSpc>
              <a:buNone/>
            </a:pPr>
            <a:r>
              <a:rPr lang="en-US" sz="1700" dirty="0">
                <a:solidFill>
                  <a:srgbClr val="14241C"/>
                </a:solidFill>
                <a:latin typeface="Calibri" pitchFamily="34" charset="0"/>
                <a:ea typeface="Calibri" pitchFamily="34" charset="-122"/>
                <a:cs typeface="Calibri" pitchFamily="34" charset="-120"/>
              </a:rPr>
              <a:t>, adding capability and aligning structure to the Owned Brands mandate inside WCO. The structure is in place and delivering today.</a:t>
            </a:r>
            <a:endParaRPr lang="en-US" sz="1700" dirty="0"/>
          </a:p>
        </p:txBody>
      </p:sp>
      <p:sp>
        <p:nvSpPr>
          <p:cNvPr id="5" name="Text 3"/>
          <p:cNvSpPr/>
          <p:nvPr/>
        </p:nvSpPr>
        <p:spPr>
          <a:xfrm>
            <a:off x="548640" y="3520440"/>
            <a:ext cx="6400800" cy="1280160"/>
          </a:xfrm>
          <a:prstGeom prst="rect">
            <a:avLst/>
          </a:prstGeom>
          <a:noFill/>
          <a:ln/>
        </p:spPr>
        <p:txBody>
          <a:bodyPr wrap="square" rtlCol="0" anchor="ctr"/>
          <a:lstStyle/>
          <a:p>
            <a:pPr indent="0" marL="0">
              <a:lnSpc>
                <a:spcPct val="115000"/>
              </a:lnSpc>
              <a:buNone/>
            </a:pPr>
            <a:r>
              <a:rPr lang="en-US" sz="1700" dirty="0">
                <a:solidFill>
                  <a:srgbClr val="586160"/>
                </a:solidFill>
                <a:latin typeface="Calibri" pitchFamily="34" charset="0"/>
                <a:ea typeface="Calibri" pitchFamily="34" charset="-122"/>
                <a:cs typeface="Calibri" pitchFamily="34" charset="-120"/>
              </a:rPr>
              <a:t>This tool turns what we are learning into a repeatable growth cycle, compounding that structural investment quarter over quarter.</a:t>
            </a:r>
            <a:endParaRPr lang="en-US" sz="1700" dirty="0"/>
          </a:p>
        </p:txBody>
      </p:sp>
      <p:sp>
        <p:nvSpPr>
          <p:cNvPr id="6" name="Shape 4"/>
          <p:cNvSpPr/>
          <p:nvPr/>
        </p:nvSpPr>
        <p:spPr>
          <a:xfrm>
            <a:off x="7498080" y="2194560"/>
            <a:ext cx="4144975" cy="3017520"/>
          </a:xfrm>
          <a:prstGeom prst="roundRect">
            <a:avLst>
              <a:gd name="adj" fmla="val 3030"/>
            </a:avLst>
          </a:prstGeom>
          <a:solidFill>
            <a:srgbClr val="10402A"/>
          </a:solidFill>
          <a:ln/>
        </p:spPr>
      </p:sp>
      <p:sp>
        <p:nvSpPr>
          <p:cNvPr id="7" name="Text 5"/>
          <p:cNvSpPr/>
          <p:nvPr/>
        </p:nvSpPr>
        <p:spPr>
          <a:xfrm>
            <a:off x="7498080" y="2487168"/>
            <a:ext cx="4144975" cy="320040"/>
          </a:xfrm>
          <a:prstGeom prst="rect">
            <a:avLst/>
          </a:prstGeom>
          <a:noFill/>
          <a:ln/>
        </p:spPr>
        <p:txBody>
          <a:bodyPr wrap="square" rtlCol="0" anchor="ctr"/>
          <a:lstStyle/>
          <a:p>
            <a:pPr algn="ctr" indent="0" marL="0">
              <a:buNone/>
            </a:pPr>
            <a:r>
              <a:rPr lang="en-US" sz="1200" spc="200" kern="0" dirty="0">
                <a:solidFill>
                  <a:srgbClr val="37B26B"/>
                </a:solidFill>
                <a:latin typeface="Consolas" pitchFamily="34" charset="0"/>
                <a:ea typeface="Consolas" pitchFamily="34" charset="-122"/>
                <a:cs typeface="Consolas" pitchFamily="34" charset="-120"/>
              </a:rPr>
              <a:t>THE GROWTH CYCLE</a:t>
            </a:r>
            <a:endParaRPr lang="en-US" sz="1200" dirty="0"/>
          </a:p>
        </p:txBody>
      </p:sp>
      <p:sp>
        <p:nvSpPr>
          <p:cNvPr id="8" name="Text 6"/>
          <p:cNvSpPr/>
          <p:nvPr/>
        </p:nvSpPr>
        <p:spPr>
          <a:xfrm>
            <a:off x="7772400" y="2944368"/>
            <a:ext cx="3596335" cy="365760"/>
          </a:xfrm>
          <a:prstGeom prst="rect">
            <a:avLst/>
          </a:prstGeom>
          <a:noFill/>
          <a:ln/>
        </p:spPr>
        <p:txBody>
          <a:bodyPr wrap="square"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Win the deal</a:t>
            </a:r>
            <a:endParaRPr lang="en-US" sz="1700" dirty="0"/>
          </a:p>
        </p:txBody>
      </p:sp>
      <p:sp>
        <p:nvSpPr>
          <p:cNvPr id="9" name="Text 7"/>
          <p:cNvSpPr/>
          <p:nvPr/>
        </p:nvSpPr>
        <p:spPr>
          <a:xfrm>
            <a:off x="7498080" y="3273552"/>
            <a:ext cx="4144975" cy="237744"/>
          </a:xfrm>
          <a:prstGeom prst="rect">
            <a:avLst/>
          </a:prstGeom>
          <a:noFill/>
          <a:ln/>
        </p:spPr>
        <p:txBody>
          <a:bodyPr wrap="square" rtlCol="0" anchor="ctr"/>
          <a:lstStyle/>
          <a:p>
            <a:pPr algn="ctr" indent="0" marL="0">
              <a:buNone/>
            </a:pPr>
            <a:r>
              <a:rPr lang="en-US" sz="1300" dirty="0">
                <a:solidFill>
                  <a:srgbClr val="37B26B"/>
                </a:solidFill>
                <a:latin typeface="Consolas" pitchFamily="34" charset="0"/>
                <a:ea typeface="Consolas" pitchFamily="34" charset="-122"/>
                <a:cs typeface="Consolas" pitchFamily="34" charset="-120"/>
              </a:rPr>
              <a:t>↓</a:t>
            </a:r>
            <a:endParaRPr lang="en-US" sz="1300" dirty="0"/>
          </a:p>
        </p:txBody>
      </p:sp>
      <p:sp>
        <p:nvSpPr>
          <p:cNvPr id="10" name="Text 8"/>
          <p:cNvSpPr/>
          <p:nvPr/>
        </p:nvSpPr>
        <p:spPr>
          <a:xfrm>
            <a:off x="7772400" y="3547872"/>
            <a:ext cx="3596335" cy="365760"/>
          </a:xfrm>
          <a:prstGeom prst="rect">
            <a:avLst/>
          </a:prstGeom>
          <a:noFill/>
          <a:ln/>
        </p:spPr>
        <p:txBody>
          <a:bodyPr wrap="square"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Capture the lesson</a:t>
            </a:r>
            <a:endParaRPr lang="en-US" sz="1700" dirty="0"/>
          </a:p>
        </p:txBody>
      </p:sp>
      <p:sp>
        <p:nvSpPr>
          <p:cNvPr id="11" name="Text 9"/>
          <p:cNvSpPr/>
          <p:nvPr/>
        </p:nvSpPr>
        <p:spPr>
          <a:xfrm>
            <a:off x="7498080" y="3877056"/>
            <a:ext cx="4144975" cy="237744"/>
          </a:xfrm>
          <a:prstGeom prst="rect">
            <a:avLst/>
          </a:prstGeom>
          <a:noFill/>
          <a:ln/>
        </p:spPr>
        <p:txBody>
          <a:bodyPr wrap="square" rtlCol="0" anchor="ctr"/>
          <a:lstStyle/>
          <a:p>
            <a:pPr algn="ctr" indent="0" marL="0">
              <a:buNone/>
            </a:pPr>
            <a:r>
              <a:rPr lang="en-US" sz="1300" dirty="0">
                <a:solidFill>
                  <a:srgbClr val="37B26B"/>
                </a:solidFill>
                <a:latin typeface="Consolas" pitchFamily="34" charset="0"/>
                <a:ea typeface="Consolas" pitchFamily="34" charset="-122"/>
                <a:cs typeface="Consolas" pitchFamily="34" charset="-120"/>
              </a:rPr>
              <a:t>↓</a:t>
            </a:r>
            <a:endParaRPr lang="en-US" sz="1300" dirty="0"/>
          </a:p>
        </p:txBody>
      </p:sp>
      <p:sp>
        <p:nvSpPr>
          <p:cNvPr id="12" name="Text 10"/>
          <p:cNvSpPr/>
          <p:nvPr/>
        </p:nvSpPr>
        <p:spPr>
          <a:xfrm>
            <a:off x="7772400" y="4151376"/>
            <a:ext cx="3596335" cy="365760"/>
          </a:xfrm>
          <a:prstGeom prst="rect">
            <a:avLst/>
          </a:prstGeom>
          <a:noFill/>
          <a:ln/>
        </p:spPr>
        <p:txBody>
          <a:bodyPr wrap="square"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Sharpen the next play</a:t>
            </a:r>
            <a:endParaRPr lang="en-US" sz="1700" dirty="0"/>
          </a:p>
        </p:txBody>
      </p:sp>
      <p:sp>
        <p:nvSpPr>
          <p:cNvPr id="13" name="Text 11"/>
          <p:cNvSpPr/>
          <p:nvPr/>
        </p:nvSpPr>
        <p:spPr>
          <a:xfrm>
            <a:off x="7772400" y="4754880"/>
            <a:ext cx="3596335" cy="365760"/>
          </a:xfrm>
          <a:prstGeom prst="rect">
            <a:avLst/>
          </a:prstGeom>
          <a:noFill/>
          <a:ln/>
        </p:spPr>
        <p:txBody>
          <a:bodyPr wrap="square" rtlCol="0" anchor="ctr"/>
          <a:lstStyle/>
          <a:p>
            <a:pPr algn="ctr" indent="0" marL="0">
              <a:buNone/>
            </a:pPr>
            <a:r>
              <a:rPr lang="en-US" sz="1300" i="1" dirty="0">
                <a:solidFill>
                  <a:srgbClr val="D6E8DD"/>
                </a:solidFill>
                <a:latin typeface="Calibri" pitchFamily="34" charset="0"/>
                <a:ea typeface="Calibri" pitchFamily="34" charset="-122"/>
                <a:cs typeface="Calibri" pitchFamily="34" charset="-120"/>
              </a:rPr>
              <a:t>Repeats, compounding every quarter.</a:t>
            </a:r>
            <a:endParaRPr lang="en-US" sz="1300" dirty="0"/>
          </a:p>
        </p:txBody>
      </p:sp>
      <p:sp>
        <p:nvSpPr>
          <p:cNvPr id="14" name="Text 12"/>
          <p:cNvSpPr/>
          <p:nvPr/>
        </p:nvSpPr>
        <p:spPr>
          <a:xfrm>
            <a:off x="548640" y="6473952"/>
            <a:ext cx="11094415" cy="274320"/>
          </a:xfrm>
          <a:prstGeom prst="rect">
            <a:avLst/>
          </a:prstGeom>
          <a:noFill/>
          <a:ln/>
        </p:spPr>
        <p:txBody>
          <a:bodyPr wrap="square" rtlCol="0" anchor="ctr"/>
          <a:lstStyle/>
          <a:p>
            <a:pPr algn="l" indent="0" marL="0">
              <a:buNone/>
            </a:pPr>
            <a:r>
              <a:rPr lang="en-US" sz="900" dirty="0">
                <a:solidFill>
                  <a:srgbClr val="586160"/>
                </a:solidFill>
                <a:latin typeface="Calibri" pitchFamily="34" charset="0"/>
                <a:ea typeface="Calibri" pitchFamily="34" charset="-122"/>
                <a:cs typeface="Calibri" pitchFamily="34" charset="-120"/>
              </a:rPr>
              <a:t>Owned Brands Sales Intelligence Platform</a:t>
            </a:r>
            <a:pPr algn="l" indent="0" marL="0">
              <a:buNone/>
            </a:pPr>
            <a:r>
              <a:rPr lang="en-US" sz="900" dirty="0">
                <a:solidFill>
                  <a:srgbClr val="586160"/>
                </a:solidFill>
                <a:latin typeface="Calibri" pitchFamily="34" charset="0"/>
                <a:ea typeface="Calibri" pitchFamily="34" charset="-122"/>
                <a:cs typeface="Calibri" pitchFamily="34" charset="-120"/>
              </a:rPr>
              <a:t>   ·   Confidential / Internal   ·   7 / 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4415" cy="274320"/>
          </a:xfrm>
          <a:prstGeom prst="rect">
            <a:avLst/>
          </a:prstGeom>
          <a:noFill/>
          <a:ln/>
        </p:spPr>
        <p:txBody>
          <a:bodyPr wrap="square" rtlCol="0" anchor="ctr"/>
          <a:lstStyle/>
          <a:p>
            <a:pPr algn="l" indent="0" marL="0">
              <a:buNone/>
            </a:pPr>
            <a:r>
              <a:rPr lang="en-US" sz="1100" spc="200" kern="0" dirty="0">
                <a:solidFill>
                  <a:srgbClr val="1B7F4B"/>
                </a:solidFill>
                <a:latin typeface="Consolas" pitchFamily="34" charset="0"/>
                <a:ea typeface="Consolas" pitchFamily="34" charset="-122"/>
                <a:cs typeface="Consolas" pitchFamily="34" charset="-120"/>
              </a:rPr>
              <a:t>ARCHITECTURE &amp; GOVERNANCE</a:t>
            </a:r>
            <a:endParaRPr lang="en-US" sz="1100" dirty="0"/>
          </a:p>
        </p:txBody>
      </p:sp>
      <p:sp>
        <p:nvSpPr>
          <p:cNvPr id="3" name="Text 1"/>
          <p:cNvSpPr/>
          <p:nvPr/>
        </p:nvSpPr>
        <p:spPr>
          <a:xfrm>
            <a:off x="548640" y="713232"/>
            <a:ext cx="11094415" cy="1051560"/>
          </a:xfrm>
          <a:prstGeom prst="rect">
            <a:avLst/>
          </a:prstGeom>
          <a:noFill/>
          <a:ln/>
        </p:spPr>
        <p:txBody>
          <a:bodyPr wrap="square" rtlCol="0" anchor="ctr"/>
          <a:lstStyle/>
          <a:p>
            <a:pPr algn="l" indent="0" marL="0">
              <a:lnSpc>
                <a:spcPct val="100000"/>
              </a:lnSpc>
              <a:buNone/>
            </a:pPr>
            <a:r>
              <a:rPr lang="en-US" sz="2700" b="1" dirty="0">
                <a:solidFill>
                  <a:srgbClr val="14241C"/>
                </a:solidFill>
                <a:latin typeface="Trebuchet MS" pitchFamily="34" charset="0"/>
                <a:ea typeface="Trebuchet MS" pitchFamily="34" charset="-122"/>
                <a:cs typeface="Trebuchet MS" pitchFamily="34" charset="-120"/>
              </a:rPr>
              <a:t>Governed end to end: read-only data in, the win out</a:t>
            </a:r>
            <a:endParaRPr lang="en-US" sz="2700" dirty="0"/>
          </a:p>
        </p:txBody>
      </p:sp>
      <p:sp>
        <p:nvSpPr>
          <p:cNvPr id="4" name="Shape 2"/>
          <p:cNvSpPr/>
          <p:nvPr/>
        </p:nvSpPr>
        <p:spPr>
          <a:xfrm>
            <a:off x="548640" y="1828800"/>
            <a:ext cx="2468880" cy="2514600"/>
          </a:xfrm>
          <a:prstGeom prst="roundRect">
            <a:avLst>
              <a:gd name="adj" fmla="val 3333"/>
            </a:avLst>
          </a:prstGeom>
          <a:solidFill>
            <a:srgbClr val="F4F8F5"/>
          </a:solidFill>
          <a:ln w="12700">
            <a:solidFill>
              <a:srgbClr val="DCE5DF"/>
            </a:solidFill>
            <a:prstDash val="solid"/>
          </a:ln>
        </p:spPr>
      </p:sp>
      <p:sp>
        <p:nvSpPr>
          <p:cNvPr id="5" name="Text 3"/>
          <p:cNvSpPr/>
          <p:nvPr/>
        </p:nvSpPr>
        <p:spPr>
          <a:xfrm>
            <a:off x="749808" y="1993392"/>
            <a:ext cx="2066544" cy="457200"/>
          </a:xfrm>
          <a:prstGeom prst="rect">
            <a:avLst/>
          </a:prstGeom>
          <a:noFill/>
          <a:ln/>
        </p:spPr>
        <p:txBody>
          <a:bodyPr wrap="square" rtlCol="0" anchor="ctr"/>
          <a:lstStyle/>
          <a:p>
            <a:pPr indent="0" marL="0">
              <a:buNone/>
            </a:pPr>
            <a:r>
              <a:rPr lang="en-US" sz="1500" b="1" dirty="0">
                <a:solidFill>
                  <a:srgbClr val="14241C"/>
                </a:solidFill>
                <a:latin typeface="Trebuchet MS" pitchFamily="34" charset="0"/>
                <a:ea typeface="Trebuchet MS" pitchFamily="34" charset="-122"/>
                <a:cs typeface="Trebuchet MS" pitchFamily="34" charset="-120"/>
              </a:rPr>
              <a:t>WCO sources</a:t>
            </a:r>
            <a:endParaRPr lang="en-US" sz="1500" dirty="0"/>
          </a:p>
        </p:txBody>
      </p:sp>
      <p:sp>
        <p:nvSpPr>
          <p:cNvPr id="6" name="Text 4"/>
          <p:cNvSpPr/>
          <p:nvPr/>
        </p:nvSpPr>
        <p:spPr>
          <a:xfrm>
            <a:off x="749808" y="2542032"/>
            <a:ext cx="2066544" cy="1097280"/>
          </a:xfrm>
          <a:prstGeom prst="rect">
            <a:avLst/>
          </a:prstGeom>
          <a:noFill/>
          <a:ln/>
        </p:spPr>
        <p:txBody>
          <a:bodyPr wrap="square" rtlCol="0" anchor="ctr"/>
          <a:lstStyle/>
          <a:p>
            <a:pPr indent="0" marL="0">
              <a:lnSpc>
                <a:spcPct val="112000"/>
              </a:lnSpc>
              <a:buNone/>
            </a:pPr>
            <a:r>
              <a:rPr lang="en-US" sz="1200" dirty="0">
                <a:solidFill>
                  <a:srgbClr val="586160"/>
                </a:solidFill>
                <a:latin typeface="Calibri" pitchFamily="34" charset="0"/>
                <a:ea typeface="Calibri" pitchFamily="34" charset="-122"/>
                <a:cs typeface="Calibri" pitchFamily="34" charset="-120"/>
              </a:rPr>
              <a:t>ERP (CORE)</a:t>
            </a:r>
            <a:endParaRPr lang="en-US" sz="1200" dirty="0"/>
          </a:p>
          <a:p>
            <a:pPr indent="0" marL="0">
              <a:lnSpc>
                <a:spcPct val="112000"/>
              </a:lnSpc>
              <a:buNone/>
            </a:pPr>
            <a:r>
              <a:rPr lang="en-US" sz="1200" dirty="0">
                <a:solidFill>
                  <a:srgbClr val="586160"/>
                </a:solidFill>
                <a:latin typeface="Calibri" pitchFamily="34" charset="0"/>
                <a:ea typeface="Calibri" pitchFamily="34" charset="-122"/>
                <a:cs typeface="Calibri" pitchFamily="34" charset="-120"/>
              </a:rPr>
              <a:t>CRM (USD)</a:t>
            </a:r>
            <a:endParaRPr lang="en-US" sz="1200" dirty="0"/>
          </a:p>
          <a:p>
            <a:pPr indent="0" marL="0">
              <a:lnSpc>
                <a:spcPct val="112000"/>
              </a:lnSpc>
              <a:buNone/>
            </a:pPr>
            <a:r>
              <a:rPr lang="en-US" sz="1200" dirty="0">
                <a:solidFill>
                  <a:srgbClr val="586160"/>
                </a:solidFill>
                <a:latin typeface="Calibri" pitchFamily="34" charset="0"/>
                <a:ea typeface="Calibri" pitchFamily="34" charset="-122"/>
                <a:cs typeface="Calibri" pitchFamily="34" charset="-120"/>
              </a:rPr>
              <a:t>Inventory</a:t>
            </a:r>
            <a:endParaRPr lang="en-US" sz="1200" dirty="0"/>
          </a:p>
        </p:txBody>
      </p:sp>
      <p:sp>
        <p:nvSpPr>
          <p:cNvPr id="7" name="Shape 5"/>
          <p:cNvSpPr/>
          <p:nvPr/>
        </p:nvSpPr>
        <p:spPr>
          <a:xfrm>
            <a:off x="749808" y="3867912"/>
            <a:ext cx="2066544" cy="310896"/>
          </a:xfrm>
          <a:prstGeom prst="roundRect">
            <a:avLst>
              <a:gd name="adj" fmla="val 17647"/>
            </a:avLst>
          </a:prstGeom>
          <a:solidFill>
            <a:srgbClr val="EAF4EE"/>
          </a:solidFill>
          <a:ln/>
        </p:spPr>
      </p:sp>
      <p:sp>
        <p:nvSpPr>
          <p:cNvPr id="8" name="Text 6"/>
          <p:cNvSpPr/>
          <p:nvPr/>
        </p:nvSpPr>
        <p:spPr>
          <a:xfrm>
            <a:off x="749808" y="3867912"/>
            <a:ext cx="2066544" cy="310896"/>
          </a:xfrm>
          <a:prstGeom prst="rect">
            <a:avLst/>
          </a:prstGeom>
          <a:noFill/>
          <a:ln/>
        </p:spPr>
        <p:txBody>
          <a:bodyPr wrap="square" rtlCol="0" anchor="ctr"/>
          <a:lstStyle/>
          <a:p>
            <a:pPr algn="ctr" indent="0" marL="0">
              <a:buNone/>
            </a:pPr>
            <a:r>
              <a:rPr lang="en-US" sz="1000" dirty="0">
                <a:solidFill>
                  <a:srgbClr val="1B7F4B"/>
                </a:solidFill>
                <a:latin typeface="Consolas" pitchFamily="34" charset="0"/>
                <a:ea typeface="Consolas" pitchFamily="34" charset="-122"/>
                <a:cs typeface="Consolas" pitchFamily="34" charset="-120"/>
              </a:rPr>
              <a:t>systems of record</a:t>
            </a:r>
            <a:endParaRPr lang="en-US" sz="1000" dirty="0"/>
          </a:p>
        </p:txBody>
      </p:sp>
      <p:sp>
        <p:nvSpPr>
          <p:cNvPr id="9" name="Text 7"/>
          <p:cNvSpPr/>
          <p:nvPr/>
        </p:nvSpPr>
        <p:spPr>
          <a:xfrm>
            <a:off x="3017520" y="1828800"/>
            <a:ext cx="406298" cy="2514600"/>
          </a:xfrm>
          <a:prstGeom prst="rect">
            <a:avLst/>
          </a:prstGeom>
          <a:noFill/>
          <a:ln/>
        </p:spPr>
        <p:txBody>
          <a:bodyPr wrap="square" rtlCol="0" anchor="ctr"/>
          <a:lstStyle/>
          <a:p>
            <a:pPr algn="ctr" indent="0" marL="0">
              <a:buNone/>
            </a:pPr>
            <a:r>
              <a:rPr lang="en-US" sz="2200" b="1" dirty="0">
                <a:solidFill>
                  <a:srgbClr val="37B26B"/>
                </a:solidFill>
                <a:latin typeface="Consolas" pitchFamily="34" charset="0"/>
                <a:ea typeface="Consolas" pitchFamily="34" charset="-122"/>
                <a:cs typeface="Consolas" pitchFamily="34" charset="-120"/>
              </a:rPr>
              <a:t>→</a:t>
            </a:r>
            <a:endParaRPr lang="en-US" sz="2200" dirty="0"/>
          </a:p>
        </p:txBody>
      </p:sp>
      <p:sp>
        <p:nvSpPr>
          <p:cNvPr id="10" name="Shape 8"/>
          <p:cNvSpPr/>
          <p:nvPr/>
        </p:nvSpPr>
        <p:spPr>
          <a:xfrm>
            <a:off x="3423818" y="1828800"/>
            <a:ext cx="2468880" cy="2514600"/>
          </a:xfrm>
          <a:prstGeom prst="roundRect">
            <a:avLst>
              <a:gd name="adj" fmla="val 3333"/>
            </a:avLst>
          </a:prstGeom>
          <a:solidFill>
            <a:srgbClr val="F4F8F5"/>
          </a:solidFill>
          <a:ln w="12700">
            <a:solidFill>
              <a:srgbClr val="DCE5DF"/>
            </a:solidFill>
            <a:prstDash val="solid"/>
          </a:ln>
        </p:spPr>
      </p:sp>
      <p:sp>
        <p:nvSpPr>
          <p:cNvPr id="11" name="Text 9"/>
          <p:cNvSpPr/>
          <p:nvPr/>
        </p:nvSpPr>
        <p:spPr>
          <a:xfrm>
            <a:off x="3624986" y="1993392"/>
            <a:ext cx="2066544" cy="457200"/>
          </a:xfrm>
          <a:prstGeom prst="rect">
            <a:avLst/>
          </a:prstGeom>
          <a:noFill/>
          <a:ln/>
        </p:spPr>
        <p:txBody>
          <a:bodyPr wrap="square" rtlCol="0" anchor="ctr"/>
          <a:lstStyle/>
          <a:p>
            <a:pPr indent="0" marL="0">
              <a:buNone/>
            </a:pPr>
            <a:r>
              <a:rPr lang="en-US" sz="1500" b="1" dirty="0">
                <a:solidFill>
                  <a:srgbClr val="14241C"/>
                </a:solidFill>
                <a:latin typeface="Trebuchet MS" pitchFamily="34" charset="0"/>
                <a:ea typeface="Trebuchet MS" pitchFamily="34" charset="-122"/>
                <a:cs typeface="Trebuchet MS" pitchFamily="34" charset="-120"/>
              </a:rPr>
              <a:t>Governed access</a:t>
            </a:r>
            <a:endParaRPr lang="en-US" sz="1500" dirty="0"/>
          </a:p>
        </p:txBody>
      </p:sp>
      <p:sp>
        <p:nvSpPr>
          <p:cNvPr id="12" name="Text 10"/>
          <p:cNvSpPr/>
          <p:nvPr/>
        </p:nvSpPr>
        <p:spPr>
          <a:xfrm>
            <a:off x="3624986" y="2542032"/>
            <a:ext cx="2066544" cy="1097280"/>
          </a:xfrm>
          <a:prstGeom prst="rect">
            <a:avLst/>
          </a:prstGeom>
          <a:noFill/>
          <a:ln/>
        </p:spPr>
        <p:txBody>
          <a:bodyPr wrap="square" rtlCol="0" anchor="ctr"/>
          <a:lstStyle/>
          <a:p>
            <a:pPr indent="0" marL="0">
              <a:lnSpc>
                <a:spcPct val="112000"/>
              </a:lnSpc>
              <a:buNone/>
            </a:pPr>
            <a:r>
              <a:rPr lang="en-US" sz="1200" dirty="0">
                <a:solidFill>
                  <a:srgbClr val="586160"/>
                </a:solidFill>
                <a:latin typeface="Calibri" pitchFamily="34" charset="0"/>
                <a:ea typeface="Calibri" pitchFamily="34" charset="-122"/>
                <a:cs typeface="Calibri" pitchFamily="34" charset="-120"/>
              </a:rPr>
              <a:t>Certified datasets,</a:t>
            </a:r>
            <a:endParaRPr lang="en-US" sz="1200" dirty="0"/>
          </a:p>
          <a:p>
            <a:pPr indent="0" marL="0">
              <a:lnSpc>
                <a:spcPct val="112000"/>
              </a:lnSpc>
              <a:buNone/>
            </a:pPr>
            <a:r>
              <a:rPr lang="en-US" sz="1200" dirty="0">
                <a:solidFill>
                  <a:srgbClr val="586160"/>
                </a:solidFill>
                <a:latin typeface="Calibri" pitchFamily="34" charset="0"/>
                <a:ea typeface="Calibri" pitchFamily="34" charset="-122"/>
                <a:cs typeface="Calibri" pitchFamily="34" charset="-120"/>
              </a:rPr>
              <a:t>Power BI, or the</a:t>
            </a:r>
            <a:endParaRPr lang="en-US" sz="1200" dirty="0"/>
          </a:p>
          <a:p>
            <a:pPr indent="0" marL="0">
              <a:lnSpc>
                <a:spcPct val="112000"/>
              </a:lnSpc>
              <a:buNone/>
            </a:pPr>
            <a:r>
              <a:rPr lang="en-US" sz="1200" dirty="0">
                <a:solidFill>
                  <a:srgbClr val="586160"/>
                </a:solidFill>
                <a:latin typeface="Calibri" pitchFamily="34" charset="0"/>
                <a:ea typeface="Calibri" pitchFamily="34" charset="-122"/>
                <a:cs typeface="Calibri" pitchFamily="34" charset="-120"/>
              </a:rPr>
              <a:t>enterprise API layer</a:t>
            </a:r>
            <a:endParaRPr lang="en-US" sz="1200" dirty="0"/>
          </a:p>
        </p:txBody>
      </p:sp>
      <p:sp>
        <p:nvSpPr>
          <p:cNvPr id="13" name="Shape 11"/>
          <p:cNvSpPr/>
          <p:nvPr/>
        </p:nvSpPr>
        <p:spPr>
          <a:xfrm>
            <a:off x="3624986" y="3867912"/>
            <a:ext cx="2066544" cy="310896"/>
          </a:xfrm>
          <a:prstGeom prst="roundRect">
            <a:avLst>
              <a:gd name="adj" fmla="val 17647"/>
            </a:avLst>
          </a:prstGeom>
          <a:solidFill>
            <a:srgbClr val="1B7F4B"/>
          </a:solidFill>
          <a:ln/>
        </p:spPr>
      </p:sp>
      <p:sp>
        <p:nvSpPr>
          <p:cNvPr id="14" name="Text 12"/>
          <p:cNvSpPr/>
          <p:nvPr/>
        </p:nvSpPr>
        <p:spPr>
          <a:xfrm>
            <a:off x="3624986" y="3867912"/>
            <a:ext cx="2066544" cy="310896"/>
          </a:xfrm>
          <a:prstGeom prst="rect">
            <a:avLst/>
          </a:prstGeom>
          <a:noFill/>
          <a:ln/>
        </p:spPr>
        <p:txBody>
          <a:bodyPr wrap="square"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read-only</a:t>
            </a:r>
            <a:endParaRPr lang="en-US" sz="1000" dirty="0"/>
          </a:p>
        </p:txBody>
      </p:sp>
      <p:sp>
        <p:nvSpPr>
          <p:cNvPr id="15" name="Text 13"/>
          <p:cNvSpPr/>
          <p:nvPr/>
        </p:nvSpPr>
        <p:spPr>
          <a:xfrm>
            <a:off x="5892698" y="1828800"/>
            <a:ext cx="406298" cy="2514600"/>
          </a:xfrm>
          <a:prstGeom prst="rect">
            <a:avLst/>
          </a:prstGeom>
          <a:noFill/>
          <a:ln/>
        </p:spPr>
        <p:txBody>
          <a:bodyPr wrap="square" rtlCol="0" anchor="ctr"/>
          <a:lstStyle/>
          <a:p>
            <a:pPr algn="ctr" indent="0" marL="0">
              <a:buNone/>
            </a:pPr>
            <a:r>
              <a:rPr lang="en-US" sz="2200" b="1" dirty="0">
                <a:solidFill>
                  <a:srgbClr val="37B26B"/>
                </a:solidFill>
                <a:latin typeface="Consolas" pitchFamily="34" charset="0"/>
                <a:ea typeface="Consolas" pitchFamily="34" charset="-122"/>
                <a:cs typeface="Consolas" pitchFamily="34" charset="-120"/>
              </a:rPr>
              <a:t>→</a:t>
            </a:r>
            <a:endParaRPr lang="en-US" sz="2200" dirty="0"/>
          </a:p>
        </p:txBody>
      </p:sp>
      <p:sp>
        <p:nvSpPr>
          <p:cNvPr id="16" name="Shape 14"/>
          <p:cNvSpPr/>
          <p:nvPr/>
        </p:nvSpPr>
        <p:spPr>
          <a:xfrm>
            <a:off x="6298997" y="1828800"/>
            <a:ext cx="2468880" cy="2514600"/>
          </a:xfrm>
          <a:prstGeom prst="roundRect">
            <a:avLst>
              <a:gd name="adj" fmla="val 3333"/>
            </a:avLst>
          </a:prstGeom>
          <a:solidFill>
            <a:srgbClr val="F4F8F5"/>
          </a:solidFill>
          <a:ln w="12700">
            <a:solidFill>
              <a:srgbClr val="DCE5DF"/>
            </a:solidFill>
            <a:prstDash val="solid"/>
          </a:ln>
        </p:spPr>
      </p:sp>
      <p:sp>
        <p:nvSpPr>
          <p:cNvPr id="17" name="Text 15"/>
          <p:cNvSpPr/>
          <p:nvPr/>
        </p:nvSpPr>
        <p:spPr>
          <a:xfrm>
            <a:off x="6500165" y="1993392"/>
            <a:ext cx="2066544" cy="457200"/>
          </a:xfrm>
          <a:prstGeom prst="rect">
            <a:avLst/>
          </a:prstGeom>
          <a:noFill/>
          <a:ln/>
        </p:spPr>
        <p:txBody>
          <a:bodyPr wrap="square" rtlCol="0" anchor="ctr"/>
          <a:lstStyle/>
          <a:p>
            <a:pPr indent="0" marL="0">
              <a:buNone/>
            </a:pPr>
            <a:r>
              <a:rPr lang="en-US" sz="1500" b="1" dirty="0">
                <a:solidFill>
                  <a:srgbClr val="14241C"/>
                </a:solidFill>
                <a:latin typeface="Trebuchet MS" pitchFamily="34" charset="0"/>
                <a:ea typeface="Trebuchet MS" pitchFamily="34" charset="-122"/>
                <a:cs typeface="Trebuchet MS" pitchFamily="34" charset="-120"/>
              </a:rPr>
              <a:t>OB_Datavers</a:t>
            </a:r>
            <a:endParaRPr lang="en-US" sz="1500" dirty="0"/>
          </a:p>
        </p:txBody>
      </p:sp>
      <p:sp>
        <p:nvSpPr>
          <p:cNvPr id="18" name="Text 16"/>
          <p:cNvSpPr/>
          <p:nvPr/>
        </p:nvSpPr>
        <p:spPr>
          <a:xfrm>
            <a:off x="6500165" y="2542032"/>
            <a:ext cx="2066544" cy="1097280"/>
          </a:xfrm>
          <a:prstGeom prst="rect">
            <a:avLst/>
          </a:prstGeom>
          <a:noFill/>
          <a:ln/>
        </p:spPr>
        <p:txBody>
          <a:bodyPr wrap="square" rtlCol="0" anchor="ctr"/>
          <a:lstStyle/>
          <a:p>
            <a:pPr indent="0" marL="0">
              <a:lnSpc>
                <a:spcPct val="112000"/>
              </a:lnSpc>
              <a:buNone/>
            </a:pPr>
            <a:r>
              <a:rPr lang="en-US" sz="1200" dirty="0">
                <a:solidFill>
                  <a:srgbClr val="586160"/>
                </a:solidFill>
                <a:latin typeface="Calibri" pitchFamily="34" charset="0"/>
                <a:ea typeface="Calibri" pitchFamily="34" charset="-122"/>
                <a:cs typeface="Calibri" pitchFamily="34" charset="-120"/>
              </a:rPr>
              <a:t>Cross-reference engine</a:t>
            </a:r>
            <a:endParaRPr lang="en-US" sz="1200" dirty="0"/>
          </a:p>
          <a:p>
            <a:pPr indent="0" marL="0">
              <a:lnSpc>
                <a:spcPct val="112000"/>
              </a:lnSpc>
              <a:buNone/>
            </a:pPr>
            <a:r>
              <a:rPr lang="en-US" sz="1200" dirty="0">
                <a:solidFill>
                  <a:srgbClr val="586160"/>
                </a:solidFill>
                <a:latin typeface="Calibri" pitchFamily="34" charset="0"/>
                <a:ea typeface="Calibri" pitchFamily="34" charset="-122"/>
                <a:cs typeface="Calibri" pitchFamily="34" charset="-120"/>
              </a:rPr>
              <a:t>Activity store, Azure SQL</a:t>
            </a:r>
            <a:endParaRPr lang="en-US" sz="1200" dirty="0"/>
          </a:p>
          <a:p>
            <a:pPr indent="0" marL="0">
              <a:lnSpc>
                <a:spcPct val="112000"/>
              </a:lnSpc>
              <a:buNone/>
            </a:pPr>
            <a:r>
              <a:rPr lang="en-US" sz="1200" dirty="0">
                <a:solidFill>
                  <a:srgbClr val="586160"/>
                </a:solidFill>
                <a:latin typeface="Calibri" pitchFamily="34" charset="0"/>
                <a:ea typeface="Calibri" pitchFamily="34" charset="-122"/>
                <a:cs typeface="Calibri" pitchFamily="34" charset="-120"/>
              </a:rPr>
              <a:t>AI layer, Azure OpenAI</a:t>
            </a:r>
            <a:endParaRPr lang="en-US" sz="1200" dirty="0"/>
          </a:p>
        </p:txBody>
      </p:sp>
      <p:sp>
        <p:nvSpPr>
          <p:cNvPr id="19" name="Shape 17"/>
          <p:cNvSpPr/>
          <p:nvPr/>
        </p:nvSpPr>
        <p:spPr>
          <a:xfrm>
            <a:off x="6500165" y="3867912"/>
            <a:ext cx="2066544" cy="310896"/>
          </a:xfrm>
          <a:prstGeom prst="roundRect">
            <a:avLst>
              <a:gd name="adj" fmla="val 17647"/>
            </a:avLst>
          </a:prstGeom>
          <a:solidFill>
            <a:srgbClr val="EAF4EE"/>
          </a:solidFill>
          <a:ln/>
        </p:spPr>
      </p:sp>
      <p:sp>
        <p:nvSpPr>
          <p:cNvPr id="20" name="Text 18"/>
          <p:cNvSpPr/>
          <p:nvPr/>
        </p:nvSpPr>
        <p:spPr>
          <a:xfrm>
            <a:off x="6500165" y="3867912"/>
            <a:ext cx="2066544" cy="310896"/>
          </a:xfrm>
          <a:prstGeom prst="rect">
            <a:avLst/>
          </a:prstGeom>
          <a:noFill/>
          <a:ln/>
        </p:spPr>
        <p:txBody>
          <a:bodyPr wrap="square" rtlCol="0" anchor="ctr"/>
          <a:lstStyle/>
          <a:p>
            <a:pPr algn="ctr" indent="0" marL="0">
              <a:buNone/>
            </a:pPr>
            <a:r>
              <a:rPr lang="en-US" sz="1000" dirty="0">
                <a:solidFill>
                  <a:srgbClr val="1B7F4B"/>
                </a:solidFill>
                <a:latin typeface="Consolas" pitchFamily="34" charset="0"/>
                <a:ea typeface="Consolas" pitchFamily="34" charset="-122"/>
                <a:cs typeface="Consolas" pitchFamily="34" charset="-120"/>
              </a:rPr>
              <a:t>isolated, in-tenant</a:t>
            </a:r>
            <a:endParaRPr lang="en-US" sz="1000" dirty="0"/>
          </a:p>
        </p:txBody>
      </p:sp>
      <p:sp>
        <p:nvSpPr>
          <p:cNvPr id="21" name="Text 19"/>
          <p:cNvSpPr/>
          <p:nvPr/>
        </p:nvSpPr>
        <p:spPr>
          <a:xfrm>
            <a:off x="8767877" y="1828800"/>
            <a:ext cx="406298" cy="2514600"/>
          </a:xfrm>
          <a:prstGeom prst="rect">
            <a:avLst/>
          </a:prstGeom>
          <a:noFill/>
          <a:ln/>
        </p:spPr>
        <p:txBody>
          <a:bodyPr wrap="square" rtlCol="0" anchor="ctr"/>
          <a:lstStyle/>
          <a:p>
            <a:pPr algn="ctr" indent="0" marL="0">
              <a:buNone/>
            </a:pPr>
            <a:r>
              <a:rPr lang="en-US" sz="2200" b="1" dirty="0">
                <a:solidFill>
                  <a:srgbClr val="37B26B"/>
                </a:solidFill>
                <a:latin typeface="Consolas" pitchFamily="34" charset="0"/>
                <a:ea typeface="Consolas" pitchFamily="34" charset="-122"/>
                <a:cs typeface="Consolas" pitchFamily="34" charset="-120"/>
              </a:rPr>
              <a:t>→</a:t>
            </a:r>
            <a:endParaRPr lang="en-US" sz="2200" dirty="0"/>
          </a:p>
        </p:txBody>
      </p:sp>
      <p:sp>
        <p:nvSpPr>
          <p:cNvPr id="22" name="Shape 20"/>
          <p:cNvSpPr/>
          <p:nvPr/>
        </p:nvSpPr>
        <p:spPr>
          <a:xfrm>
            <a:off x="9174175" y="1828800"/>
            <a:ext cx="2468880" cy="2514600"/>
          </a:xfrm>
          <a:prstGeom prst="roundRect">
            <a:avLst>
              <a:gd name="adj" fmla="val 3333"/>
            </a:avLst>
          </a:prstGeom>
          <a:solidFill>
            <a:srgbClr val="1B7F4B"/>
          </a:solidFill>
          <a:ln w="12700">
            <a:solidFill>
              <a:srgbClr val="DCE5DF"/>
            </a:solidFill>
            <a:prstDash val="solid"/>
          </a:ln>
        </p:spPr>
      </p:sp>
      <p:sp>
        <p:nvSpPr>
          <p:cNvPr id="23" name="Text 21"/>
          <p:cNvSpPr/>
          <p:nvPr/>
        </p:nvSpPr>
        <p:spPr>
          <a:xfrm>
            <a:off x="9375343" y="1993392"/>
            <a:ext cx="2066544" cy="457200"/>
          </a:xfrm>
          <a:prstGeom prst="rect">
            <a:avLst/>
          </a:prstGeom>
          <a:noFill/>
          <a:ln/>
        </p:spPr>
        <p:txBody>
          <a:bodyPr wrap="square"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Dashboard, then the win</a:t>
            </a:r>
            <a:endParaRPr lang="en-US" sz="1500" dirty="0"/>
          </a:p>
        </p:txBody>
      </p:sp>
      <p:sp>
        <p:nvSpPr>
          <p:cNvPr id="24" name="Text 22"/>
          <p:cNvSpPr/>
          <p:nvPr/>
        </p:nvSpPr>
        <p:spPr>
          <a:xfrm>
            <a:off x="9375343" y="2542032"/>
            <a:ext cx="2066544" cy="1097280"/>
          </a:xfrm>
          <a:prstGeom prst="rect">
            <a:avLst/>
          </a:prstGeom>
          <a:noFill/>
          <a:ln/>
        </p:spPr>
        <p:txBody>
          <a:bodyPr wrap="square" rtlCol="0" anchor="ctr"/>
          <a:lstStyle/>
          <a:p>
            <a:pPr indent="0" marL="0">
              <a:lnSpc>
                <a:spcPct val="112000"/>
              </a:lnSpc>
              <a:buNone/>
            </a:pPr>
            <a:r>
              <a:rPr lang="en-US" sz="1200" dirty="0">
                <a:solidFill>
                  <a:srgbClr val="EAF4EE"/>
                </a:solidFill>
                <a:latin typeface="Calibri" pitchFamily="34" charset="0"/>
                <a:ea typeface="Calibri" pitchFamily="34" charset="-122"/>
                <a:cs typeface="Calibri" pitchFamily="34" charset="-120"/>
              </a:rPr>
              <a:t>Embedded Power BI</a:t>
            </a:r>
            <a:endParaRPr lang="en-US" sz="1200" dirty="0"/>
          </a:p>
          <a:p>
            <a:pPr indent="0" marL="0">
              <a:lnSpc>
                <a:spcPct val="112000"/>
              </a:lnSpc>
              <a:buNone/>
            </a:pPr>
            <a:r>
              <a:rPr lang="en-US" sz="1200" dirty="0">
                <a:solidFill>
                  <a:srgbClr val="EAF4EE"/>
                </a:solidFill>
                <a:latin typeface="Calibri" pitchFamily="34" charset="0"/>
                <a:ea typeface="Calibri" pitchFamily="34" charset="-122"/>
                <a:cs typeface="Calibri" pitchFamily="34" charset="-120"/>
              </a:rPr>
              <a:t>Seller signals surfaced</a:t>
            </a:r>
            <a:endParaRPr lang="en-US" sz="1200" dirty="0"/>
          </a:p>
          <a:p>
            <a:pPr indent="0" marL="0">
              <a:lnSpc>
                <a:spcPct val="112000"/>
              </a:lnSpc>
              <a:buNone/>
            </a:pPr>
            <a:r>
              <a:rPr lang="en-US" sz="1200" dirty="0">
                <a:solidFill>
                  <a:srgbClr val="EAF4EE"/>
                </a:solidFill>
                <a:latin typeface="Calibri" pitchFamily="34" charset="0"/>
                <a:ea typeface="Calibri" pitchFamily="34" charset="-122"/>
                <a:cs typeface="Calibri" pitchFamily="34" charset="-120"/>
              </a:rPr>
              <a:t>Spec owned brands, win</a:t>
            </a:r>
            <a:endParaRPr lang="en-US" sz="1200" dirty="0"/>
          </a:p>
        </p:txBody>
      </p:sp>
      <p:sp>
        <p:nvSpPr>
          <p:cNvPr id="25" name="Shape 23"/>
          <p:cNvSpPr/>
          <p:nvPr/>
        </p:nvSpPr>
        <p:spPr>
          <a:xfrm>
            <a:off x="548640" y="4709160"/>
            <a:ext cx="11094415" cy="457200"/>
          </a:xfrm>
          <a:prstGeom prst="roundRect">
            <a:avLst>
              <a:gd name="adj" fmla="val 16000"/>
            </a:avLst>
          </a:prstGeom>
          <a:solidFill>
            <a:srgbClr val="10402A"/>
          </a:solidFill>
          <a:ln/>
        </p:spPr>
      </p:sp>
      <p:sp>
        <p:nvSpPr>
          <p:cNvPr id="26" name="Text 24"/>
          <p:cNvSpPr/>
          <p:nvPr/>
        </p:nvSpPr>
        <p:spPr>
          <a:xfrm>
            <a:off x="548640" y="4709160"/>
            <a:ext cx="11094415" cy="457200"/>
          </a:xfrm>
          <a:prstGeom prst="rect">
            <a:avLst/>
          </a:prstGeom>
          <a:noFill/>
          <a:ln/>
        </p:spPr>
        <p:txBody>
          <a:bodyPr wrap="square"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Entra ID SSO   ·   RBAC + row-level security   ·   stays inside the Microsoft / Azure boundary, no egress</a:t>
            </a:r>
            <a:endParaRPr lang="en-US" sz="1300" dirty="0"/>
          </a:p>
        </p:txBody>
      </p:sp>
      <p:sp>
        <p:nvSpPr>
          <p:cNvPr id="27" name="Text 25"/>
          <p:cNvSpPr/>
          <p:nvPr/>
        </p:nvSpPr>
        <p:spPr>
          <a:xfrm>
            <a:off x="548640" y="5303520"/>
            <a:ext cx="11094415" cy="320040"/>
          </a:xfrm>
          <a:prstGeom prst="rect">
            <a:avLst/>
          </a:prstGeom>
          <a:noFill/>
          <a:ln/>
        </p:spPr>
        <p:txBody>
          <a:bodyPr wrap="square" rtlCol="0" anchor="ctr"/>
          <a:lstStyle/>
          <a:p>
            <a:pPr algn="ctr" indent="0" marL="0">
              <a:buNone/>
            </a:pPr>
            <a:r>
              <a:rPr lang="en-US" sz="1300" b="1" dirty="0">
                <a:solidFill>
                  <a:srgbClr val="A6322B"/>
                </a:solidFill>
                <a:latin typeface="Calibri" pitchFamily="34" charset="0"/>
                <a:ea typeface="Calibri" pitchFamily="34" charset="-122"/>
                <a:cs typeface="Calibri" pitchFamily="34" charset="-120"/>
              </a:rPr>
              <a:t>Not doing: </a:t>
            </a:r>
            <a:pPr algn="ctr" indent="0" marL="0">
              <a:buNone/>
            </a:pPr>
            <a:r>
              <a:rPr lang="en-US" sz="1300" dirty="0">
                <a:solidFill>
                  <a:srgbClr val="586160"/>
                </a:solidFill>
                <a:latin typeface="Calibri" pitchFamily="34" charset="0"/>
                <a:ea typeface="Calibri" pitchFamily="34" charset="-122"/>
                <a:cs typeface="Calibri" pitchFamily="34" charset="-120"/>
              </a:rPr>
              <a:t>no writes to the ERP or CRM, no direct DB connectivity, no duplication, no access outside OB, no egress.</a:t>
            </a:r>
            <a:endParaRPr lang="en-US" sz="1300" dirty="0"/>
          </a:p>
        </p:txBody>
      </p:sp>
      <p:sp>
        <p:nvSpPr>
          <p:cNvPr id="28" name="Text 26"/>
          <p:cNvSpPr/>
          <p:nvPr/>
        </p:nvSpPr>
        <p:spPr>
          <a:xfrm>
            <a:off x="548640" y="5742432"/>
            <a:ext cx="11094415" cy="320040"/>
          </a:xfrm>
          <a:prstGeom prst="rect">
            <a:avLst/>
          </a:prstGeom>
          <a:noFill/>
          <a:ln/>
        </p:spPr>
        <p:txBody>
          <a:bodyPr wrap="square" rtlCol="0" anchor="ctr"/>
          <a:lstStyle/>
          <a:p>
            <a:pPr algn="ctr" indent="0" marL="0">
              <a:buNone/>
            </a:pPr>
            <a:r>
              <a:rPr lang="en-US" sz="1150" i="1" dirty="0">
                <a:solidFill>
                  <a:srgbClr val="1B7F4B"/>
                </a:solidFill>
                <a:latin typeface="Calibri" pitchFamily="34" charset="0"/>
                <a:ea typeface="Calibri" pitchFamily="34" charset="-122"/>
                <a:cs typeface="Calibri" pitchFamily="34" charset="-120"/>
              </a:rPr>
              <a:t>Proposed and aligned to confirmed WCO Azure standards; the exact governed-data mechanism is confirmed with the Data Office before build.</a:t>
            </a:r>
            <a:endParaRPr lang="en-US" sz="1150" dirty="0"/>
          </a:p>
        </p:txBody>
      </p:sp>
      <p:sp>
        <p:nvSpPr>
          <p:cNvPr id="29" name="Text 27"/>
          <p:cNvSpPr/>
          <p:nvPr/>
        </p:nvSpPr>
        <p:spPr>
          <a:xfrm>
            <a:off x="548640" y="6473952"/>
            <a:ext cx="11094415" cy="274320"/>
          </a:xfrm>
          <a:prstGeom prst="rect">
            <a:avLst/>
          </a:prstGeom>
          <a:noFill/>
          <a:ln/>
        </p:spPr>
        <p:txBody>
          <a:bodyPr wrap="square" rtlCol="0" anchor="ctr"/>
          <a:lstStyle/>
          <a:p>
            <a:pPr algn="l" indent="0" marL="0">
              <a:buNone/>
            </a:pPr>
            <a:r>
              <a:rPr lang="en-US" sz="900" dirty="0">
                <a:solidFill>
                  <a:srgbClr val="586160"/>
                </a:solidFill>
                <a:latin typeface="Calibri" pitchFamily="34" charset="0"/>
                <a:ea typeface="Calibri" pitchFamily="34" charset="-122"/>
                <a:cs typeface="Calibri" pitchFamily="34" charset="-120"/>
              </a:rPr>
              <a:t>Owned Brands Sales Intelligence Platform</a:t>
            </a:r>
            <a:pPr algn="l" indent="0" marL="0">
              <a:buNone/>
            </a:pPr>
            <a:r>
              <a:rPr lang="en-US" sz="900" dirty="0">
                <a:solidFill>
                  <a:srgbClr val="586160"/>
                </a:solidFill>
                <a:latin typeface="Calibri" pitchFamily="34" charset="0"/>
                <a:ea typeface="Calibri" pitchFamily="34" charset="-122"/>
                <a:cs typeface="Calibri" pitchFamily="34" charset="-120"/>
              </a:rPr>
              <a:t>   ·   Confidential / Internal   ·   8 / 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4415" cy="274320"/>
          </a:xfrm>
          <a:prstGeom prst="rect">
            <a:avLst/>
          </a:prstGeom>
          <a:noFill/>
          <a:ln/>
        </p:spPr>
        <p:txBody>
          <a:bodyPr wrap="square" rtlCol="0" anchor="ctr"/>
          <a:lstStyle/>
          <a:p>
            <a:pPr algn="l" indent="0" marL="0">
              <a:buNone/>
            </a:pPr>
            <a:r>
              <a:rPr lang="en-US" sz="1100" spc="200" kern="0" dirty="0">
                <a:solidFill>
                  <a:srgbClr val="1B7F4B"/>
                </a:solidFill>
                <a:latin typeface="Consolas" pitchFamily="34" charset="0"/>
                <a:ea typeface="Consolas" pitchFamily="34" charset="-122"/>
                <a:cs typeface="Consolas" pitchFamily="34" charset="-120"/>
              </a:rPr>
              <a:t>THE PLAN</a:t>
            </a:r>
            <a:endParaRPr lang="en-US" sz="1100" dirty="0"/>
          </a:p>
        </p:txBody>
      </p:sp>
      <p:sp>
        <p:nvSpPr>
          <p:cNvPr id="3" name="Text 1"/>
          <p:cNvSpPr/>
          <p:nvPr/>
        </p:nvSpPr>
        <p:spPr>
          <a:xfrm>
            <a:off x="548640" y="713232"/>
            <a:ext cx="11094415" cy="1051560"/>
          </a:xfrm>
          <a:prstGeom prst="rect">
            <a:avLst/>
          </a:prstGeom>
          <a:noFill/>
          <a:ln/>
        </p:spPr>
        <p:txBody>
          <a:bodyPr wrap="square" rtlCol="0" anchor="ctr"/>
          <a:lstStyle/>
          <a:p>
            <a:pPr algn="l" indent="0" marL="0">
              <a:lnSpc>
                <a:spcPct val="100000"/>
              </a:lnSpc>
              <a:buNone/>
            </a:pPr>
            <a:r>
              <a:rPr lang="en-US" sz="2700" b="1" dirty="0">
                <a:solidFill>
                  <a:srgbClr val="14241C"/>
                </a:solidFill>
                <a:latin typeface="Trebuchet MS" pitchFamily="34" charset="0"/>
                <a:ea typeface="Trebuchet MS" pitchFamily="34" charset="-122"/>
                <a:cs typeface="Trebuchet MS" pitchFamily="34" charset="-120"/>
              </a:rPr>
              <a:t>A phased build I can execute solo</a:t>
            </a:r>
            <a:endParaRPr lang="en-US" sz="2700" dirty="0"/>
          </a:p>
        </p:txBody>
      </p:sp>
      <p:sp>
        <p:nvSpPr>
          <p:cNvPr id="4" name="Shape 2"/>
          <p:cNvSpPr/>
          <p:nvPr/>
        </p:nvSpPr>
        <p:spPr>
          <a:xfrm>
            <a:off x="1511778" y="3017520"/>
            <a:ext cx="9168140" cy="0"/>
          </a:xfrm>
          <a:prstGeom prst="line">
            <a:avLst/>
          </a:prstGeom>
          <a:noFill/>
          <a:ln w="25400">
            <a:solidFill>
              <a:srgbClr val="DCE5DF"/>
            </a:solidFill>
            <a:prstDash val="solid"/>
          </a:ln>
        </p:spPr>
      </p:sp>
      <p:sp>
        <p:nvSpPr>
          <p:cNvPr id="5" name="Shape 3"/>
          <p:cNvSpPr/>
          <p:nvPr/>
        </p:nvSpPr>
        <p:spPr>
          <a:xfrm>
            <a:off x="1237458" y="2743200"/>
            <a:ext cx="548640" cy="548640"/>
          </a:xfrm>
          <a:prstGeom prst="ellipse">
            <a:avLst/>
          </a:prstGeom>
          <a:solidFill>
            <a:srgbClr val="37B26B"/>
          </a:solidFill>
          <a:ln/>
        </p:spPr>
      </p:sp>
      <p:sp>
        <p:nvSpPr>
          <p:cNvPr id="6" name="Text 4"/>
          <p:cNvSpPr/>
          <p:nvPr/>
        </p:nvSpPr>
        <p:spPr>
          <a:xfrm>
            <a:off x="1237458" y="274320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0</a:t>
            </a:r>
            <a:endParaRPr lang="en-US" sz="1800" dirty="0"/>
          </a:p>
        </p:txBody>
      </p:sp>
      <p:sp>
        <p:nvSpPr>
          <p:cNvPr id="7" name="Text 5"/>
          <p:cNvSpPr/>
          <p:nvPr/>
        </p:nvSpPr>
        <p:spPr>
          <a:xfrm>
            <a:off x="548640" y="3429000"/>
            <a:ext cx="1926275" cy="365760"/>
          </a:xfrm>
          <a:prstGeom prst="rect">
            <a:avLst/>
          </a:prstGeom>
          <a:noFill/>
          <a:ln/>
        </p:spPr>
        <p:txBody>
          <a:bodyPr wrap="square" rtlCol="0" anchor="ctr"/>
          <a:lstStyle/>
          <a:p>
            <a:pPr algn="ctr" indent="0" marL="0">
              <a:buNone/>
            </a:pPr>
            <a:r>
              <a:rPr lang="en-US" sz="1600" b="1" dirty="0">
                <a:solidFill>
                  <a:srgbClr val="14241C"/>
                </a:solidFill>
                <a:latin typeface="Trebuchet MS" pitchFamily="34" charset="0"/>
                <a:ea typeface="Trebuchet MS" pitchFamily="34" charset="-122"/>
                <a:cs typeface="Trebuchet MS" pitchFamily="34" charset="-120"/>
              </a:rPr>
              <a:t>Now</a:t>
            </a:r>
            <a:endParaRPr lang="en-US" sz="1600" dirty="0"/>
          </a:p>
        </p:txBody>
      </p:sp>
      <p:sp>
        <p:nvSpPr>
          <p:cNvPr id="8" name="Text 6"/>
          <p:cNvSpPr/>
          <p:nvPr/>
        </p:nvSpPr>
        <p:spPr>
          <a:xfrm>
            <a:off x="594360" y="3840480"/>
            <a:ext cx="1834835" cy="1371600"/>
          </a:xfrm>
          <a:prstGeom prst="rect">
            <a:avLst/>
          </a:prstGeom>
          <a:noFill/>
          <a:ln/>
        </p:spPr>
        <p:txBody>
          <a:bodyPr wrap="square" rtlCol="0" anchor="ctr"/>
          <a:lstStyle/>
          <a:p>
            <a:pPr algn="ctr" indent="0" marL="0">
              <a:lnSpc>
                <a:spcPct val="108000"/>
              </a:lnSpc>
              <a:buNone/>
            </a:pPr>
            <a:r>
              <a:rPr lang="en-US" sz="1250" dirty="0">
                <a:solidFill>
                  <a:srgbClr val="586160"/>
                </a:solidFill>
                <a:latin typeface="Calibri" pitchFamily="34" charset="0"/>
                <a:ea typeface="Calibri" pitchFamily="34" charset="-122"/>
                <a:cs typeface="Calibri" pitchFamily="34" charset="-120"/>
              </a:rPr>
              <a:t>Scoping, wireframe, access one-pager, systems discovery</a:t>
            </a:r>
            <a:endParaRPr lang="en-US" sz="1250" dirty="0"/>
          </a:p>
        </p:txBody>
      </p:sp>
      <p:sp>
        <p:nvSpPr>
          <p:cNvPr id="9" name="Shape 7"/>
          <p:cNvSpPr/>
          <p:nvPr/>
        </p:nvSpPr>
        <p:spPr>
          <a:xfrm>
            <a:off x="3529493" y="2743200"/>
            <a:ext cx="548640" cy="548640"/>
          </a:xfrm>
          <a:prstGeom prst="ellipse">
            <a:avLst/>
          </a:prstGeom>
          <a:solidFill>
            <a:srgbClr val="1B7F4B"/>
          </a:solidFill>
          <a:ln/>
        </p:spPr>
      </p:sp>
      <p:sp>
        <p:nvSpPr>
          <p:cNvPr id="10" name="Text 8"/>
          <p:cNvSpPr/>
          <p:nvPr/>
        </p:nvSpPr>
        <p:spPr>
          <a:xfrm>
            <a:off x="3529493" y="274320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1</a:t>
            </a:r>
            <a:endParaRPr lang="en-US" sz="1800" dirty="0"/>
          </a:p>
        </p:txBody>
      </p:sp>
      <p:sp>
        <p:nvSpPr>
          <p:cNvPr id="11" name="Text 9"/>
          <p:cNvSpPr/>
          <p:nvPr/>
        </p:nvSpPr>
        <p:spPr>
          <a:xfrm>
            <a:off x="2840675" y="3429000"/>
            <a:ext cx="1926275" cy="365760"/>
          </a:xfrm>
          <a:prstGeom prst="rect">
            <a:avLst/>
          </a:prstGeom>
          <a:noFill/>
          <a:ln/>
        </p:spPr>
        <p:txBody>
          <a:bodyPr wrap="square" rtlCol="0" anchor="ctr"/>
          <a:lstStyle/>
          <a:p>
            <a:pPr algn="ctr" indent="0" marL="0">
              <a:buNone/>
            </a:pPr>
            <a:r>
              <a:rPr lang="en-US" sz="1600" b="1" dirty="0">
                <a:solidFill>
                  <a:srgbClr val="14241C"/>
                </a:solidFill>
                <a:latin typeface="Trebuchet MS" pitchFamily="34" charset="0"/>
                <a:ea typeface="Trebuchet MS" pitchFamily="34" charset="-122"/>
                <a:cs typeface="Trebuchet MS" pitchFamily="34" charset="-120"/>
              </a:rPr>
              <a:t>Access</a:t>
            </a:r>
            <a:endParaRPr lang="en-US" sz="1600" dirty="0"/>
          </a:p>
        </p:txBody>
      </p:sp>
      <p:sp>
        <p:nvSpPr>
          <p:cNvPr id="12" name="Text 10"/>
          <p:cNvSpPr/>
          <p:nvPr/>
        </p:nvSpPr>
        <p:spPr>
          <a:xfrm>
            <a:off x="2886395" y="3840480"/>
            <a:ext cx="1834835" cy="1371600"/>
          </a:xfrm>
          <a:prstGeom prst="rect">
            <a:avLst/>
          </a:prstGeom>
          <a:noFill/>
          <a:ln/>
        </p:spPr>
        <p:txBody>
          <a:bodyPr wrap="square" rtlCol="0" anchor="ctr"/>
          <a:lstStyle/>
          <a:p>
            <a:pPr algn="ctr" indent="0" marL="0">
              <a:lnSpc>
                <a:spcPct val="108000"/>
              </a:lnSpc>
              <a:buNone/>
            </a:pPr>
            <a:r>
              <a:rPr lang="en-US" sz="1250" dirty="0">
                <a:solidFill>
                  <a:srgbClr val="586160"/>
                </a:solidFill>
                <a:latin typeface="Calibri" pitchFamily="34" charset="0"/>
                <a:ea typeface="Calibri" pitchFamily="34" charset="-122"/>
                <a:cs typeface="Calibri" pitchFamily="34" charset="-120"/>
              </a:rPr>
              <a:t>Secure read-only approval; confirm mechanism with Data Office</a:t>
            </a:r>
            <a:endParaRPr lang="en-US" sz="1250" dirty="0"/>
          </a:p>
        </p:txBody>
      </p:sp>
      <p:sp>
        <p:nvSpPr>
          <p:cNvPr id="13" name="Shape 11"/>
          <p:cNvSpPr/>
          <p:nvPr/>
        </p:nvSpPr>
        <p:spPr>
          <a:xfrm>
            <a:off x="5821528" y="2743200"/>
            <a:ext cx="548640" cy="548640"/>
          </a:xfrm>
          <a:prstGeom prst="ellipse">
            <a:avLst/>
          </a:prstGeom>
          <a:solidFill>
            <a:srgbClr val="1B7F4B"/>
          </a:solidFill>
          <a:ln/>
        </p:spPr>
      </p:sp>
      <p:sp>
        <p:nvSpPr>
          <p:cNvPr id="14" name="Text 12"/>
          <p:cNvSpPr/>
          <p:nvPr/>
        </p:nvSpPr>
        <p:spPr>
          <a:xfrm>
            <a:off x="5821528" y="274320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2</a:t>
            </a:r>
            <a:endParaRPr lang="en-US" sz="1800" dirty="0"/>
          </a:p>
        </p:txBody>
      </p:sp>
      <p:sp>
        <p:nvSpPr>
          <p:cNvPr id="15" name="Text 13"/>
          <p:cNvSpPr/>
          <p:nvPr/>
        </p:nvSpPr>
        <p:spPr>
          <a:xfrm>
            <a:off x="5132710" y="3429000"/>
            <a:ext cx="1926275" cy="365760"/>
          </a:xfrm>
          <a:prstGeom prst="rect">
            <a:avLst/>
          </a:prstGeom>
          <a:noFill/>
          <a:ln/>
        </p:spPr>
        <p:txBody>
          <a:bodyPr wrap="square" rtlCol="0" anchor="ctr"/>
          <a:lstStyle/>
          <a:p>
            <a:pPr algn="ctr" indent="0" marL="0">
              <a:buNone/>
            </a:pPr>
            <a:r>
              <a:rPr lang="en-US" sz="1600" b="1" dirty="0">
                <a:solidFill>
                  <a:srgbClr val="14241C"/>
                </a:solidFill>
                <a:latin typeface="Trebuchet MS" pitchFamily="34" charset="0"/>
                <a:ea typeface="Trebuchet MS" pitchFamily="34" charset="-122"/>
                <a:cs typeface="Trebuchet MS" pitchFamily="34" charset="-120"/>
              </a:rPr>
              <a:t>Build</a:t>
            </a:r>
            <a:endParaRPr lang="en-US" sz="1600" dirty="0"/>
          </a:p>
        </p:txBody>
      </p:sp>
      <p:sp>
        <p:nvSpPr>
          <p:cNvPr id="16" name="Text 14"/>
          <p:cNvSpPr/>
          <p:nvPr/>
        </p:nvSpPr>
        <p:spPr>
          <a:xfrm>
            <a:off x="5178430" y="3840480"/>
            <a:ext cx="1834835" cy="1371600"/>
          </a:xfrm>
          <a:prstGeom prst="rect">
            <a:avLst/>
          </a:prstGeom>
          <a:noFill/>
          <a:ln/>
        </p:spPr>
        <p:txBody>
          <a:bodyPr wrap="square" rtlCol="0" anchor="ctr"/>
          <a:lstStyle/>
          <a:p>
            <a:pPr algn="ctr" indent="0" marL="0">
              <a:lnSpc>
                <a:spcPct val="108000"/>
              </a:lnSpc>
              <a:buNone/>
            </a:pPr>
            <a:r>
              <a:rPr lang="en-US" sz="1250" dirty="0">
                <a:solidFill>
                  <a:srgbClr val="586160"/>
                </a:solidFill>
                <a:latin typeface="Calibri" pitchFamily="34" charset="0"/>
                <a:ea typeface="Calibri" pitchFamily="34" charset="-122"/>
                <a:cs typeface="Calibri" pitchFamily="34" charset="-120"/>
              </a:rPr>
              <a:t>Azure production: data layer, app DB, identity, Power BI</a:t>
            </a:r>
            <a:endParaRPr lang="en-US" sz="1250" dirty="0"/>
          </a:p>
        </p:txBody>
      </p:sp>
      <p:sp>
        <p:nvSpPr>
          <p:cNvPr id="17" name="Shape 15"/>
          <p:cNvSpPr/>
          <p:nvPr/>
        </p:nvSpPr>
        <p:spPr>
          <a:xfrm>
            <a:off x="8113563" y="2743200"/>
            <a:ext cx="548640" cy="548640"/>
          </a:xfrm>
          <a:prstGeom prst="ellipse">
            <a:avLst/>
          </a:prstGeom>
          <a:solidFill>
            <a:srgbClr val="1B7F4B"/>
          </a:solidFill>
          <a:ln/>
        </p:spPr>
      </p:sp>
      <p:sp>
        <p:nvSpPr>
          <p:cNvPr id="18" name="Text 16"/>
          <p:cNvSpPr/>
          <p:nvPr/>
        </p:nvSpPr>
        <p:spPr>
          <a:xfrm>
            <a:off x="8113563" y="274320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3</a:t>
            </a:r>
            <a:endParaRPr lang="en-US" sz="1800" dirty="0"/>
          </a:p>
        </p:txBody>
      </p:sp>
      <p:sp>
        <p:nvSpPr>
          <p:cNvPr id="19" name="Text 17"/>
          <p:cNvSpPr/>
          <p:nvPr/>
        </p:nvSpPr>
        <p:spPr>
          <a:xfrm>
            <a:off x="7424745" y="3429000"/>
            <a:ext cx="1926275" cy="365760"/>
          </a:xfrm>
          <a:prstGeom prst="rect">
            <a:avLst/>
          </a:prstGeom>
          <a:noFill/>
          <a:ln/>
        </p:spPr>
        <p:txBody>
          <a:bodyPr wrap="square" rtlCol="0" anchor="ctr"/>
          <a:lstStyle/>
          <a:p>
            <a:pPr algn="ctr" indent="0" marL="0">
              <a:buNone/>
            </a:pPr>
            <a:r>
              <a:rPr lang="en-US" sz="1600" b="1" dirty="0">
                <a:solidFill>
                  <a:srgbClr val="14241C"/>
                </a:solidFill>
                <a:latin typeface="Trebuchet MS" pitchFamily="34" charset="0"/>
                <a:ea typeface="Trebuchet MS" pitchFamily="34" charset="-122"/>
                <a:cs typeface="Trebuchet MS" pitchFamily="34" charset="-120"/>
              </a:rPr>
              <a:t>AI</a:t>
            </a:r>
            <a:endParaRPr lang="en-US" sz="1600" dirty="0"/>
          </a:p>
        </p:txBody>
      </p:sp>
      <p:sp>
        <p:nvSpPr>
          <p:cNvPr id="20" name="Text 18"/>
          <p:cNvSpPr/>
          <p:nvPr/>
        </p:nvSpPr>
        <p:spPr>
          <a:xfrm>
            <a:off x="7470465" y="3840480"/>
            <a:ext cx="1834835" cy="1371600"/>
          </a:xfrm>
          <a:prstGeom prst="rect">
            <a:avLst/>
          </a:prstGeom>
          <a:noFill/>
          <a:ln/>
        </p:spPr>
        <p:txBody>
          <a:bodyPr wrap="square" rtlCol="0" anchor="ctr"/>
          <a:lstStyle/>
          <a:p>
            <a:pPr algn="ctr" indent="0" marL="0">
              <a:lnSpc>
                <a:spcPct val="108000"/>
              </a:lnSpc>
              <a:buNone/>
            </a:pPr>
            <a:r>
              <a:rPr lang="en-US" sz="1250" dirty="0">
                <a:solidFill>
                  <a:srgbClr val="586160"/>
                </a:solidFill>
                <a:latin typeface="Calibri" pitchFamily="34" charset="0"/>
                <a:ea typeface="Calibri" pitchFamily="34" charset="-122"/>
                <a:cs typeface="Calibri" pitchFamily="34" charset="-120"/>
              </a:rPr>
              <a:t>Email-drop, datasheet crosses, natural-language query</a:t>
            </a:r>
            <a:endParaRPr lang="en-US" sz="1250" dirty="0"/>
          </a:p>
        </p:txBody>
      </p:sp>
      <p:sp>
        <p:nvSpPr>
          <p:cNvPr id="21" name="Shape 19"/>
          <p:cNvSpPr/>
          <p:nvPr/>
        </p:nvSpPr>
        <p:spPr>
          <a:xfrm>
            <a:off x="10405598" y="2743200"/>
            <a:ext cx="548640" cy="548640"/>
          </a:xfrm>
          <a:prstGeom prst="ellipse">
            <a:avLst/>
          </a:prstGeom>
          <a:solidFill>
            <a:srgbClr val="1B7F4B"/>
          </a:solidFill>
          <a:ln/>
        </p:spPr>
      </p:sp>
      <p:sp>
        <p:nvSpPr>
          <p:cNvPr id="22" name="Text 20"/>
          <p:cNvSpPr/>
          <p:nvPr/>
        </p:nvSpPr>
        <p:spPr>
          <a:xfrm>
            <a:off x="10405598" y="274320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4</a:t>
            </a:r>
            <a:endParaRPr lang="en-US" sz="1800" dirty="0"/>
          </a:p>
        </p:txBody>
      </p:sp>
      <p:sp>
        <p:nvSpPr>
          <p:cNvPr id="23" name="Text 21"/>
          <p:cNvSpPr/>
          <p:nvPr/>
        </p:nvSpPr>
        <p:spPr>
          <a:xfrm>
            <a:off x="9716780" y="3429000"/>
            <a:ext cx="1926275" cy="365760"/>
          </a:xfrm>
          <a:prstGeom prst="rect">
            <a:avLst/>
          </a:prstGeom>
          <a:noFill/>
          <a:ln/>
        </p:spPr>
        <p:txBody>
          <a:bodyPr wrap="square" rtlCol="0" anchor="ctr"/>
          <a:lstStyle/>
          <a:p>
            <a:pPr algn="ctr" indent="0" marL="0">
              <a:buNone/>
            </a:pPr>
            <a:r>
              <a:rPr lang="en-US" sz="1600" b="1" dirty="0">
                <a:solidFill>
                  <a:srgbClr val="14241C"/>
                </a:solidFill>
                <a:latin typeface="Trebuchet MS" pitchFamily="34" charset="0"/>
                <a:ea typeface="Trebuchet MS" pitchFamily="34" charset="-122"/>
                <a:cs typeface="Trebuchet MS" pitchFamily="34" charset="-120"/>
              </a:rPr>
              <a:t>Rollout</a:t>
            </a:r>
            <a:endParaRPr lang="en-US" sz="1600" dirty="0"/>
          </a:p>
        </p:txBody>
      </p:sp>
      <p:sp>
        <p:nvSpPr>
          <p:cNvPr id="24" name="Text 22"/>
          <p:cNvSpPr/>
          <p:nvPr/>
        </p:nvSpPr>
        <p:spPr>
          <a:xfrm>
            <a:off x="9762500" y="3840480"/>
            <a:ext cx="1834835" cy="1371600"/>
          </a:xfrm>
          <a:prstGeom prst="rect">
            <a:avLst/>
          </a:prstGeom>
          <a:noFill/>
          <a:ln/>
        </p:spPr>
        <p:txBody>
          <a:bodyPr wrap="square" rtlCol="0" anchor="ctr"/>
          <a:lstStyle/>
          <a:p>
            <a:pPr algn="ctr" indent="0" marL="0">
              <a:lnSpc>
                <a:spcPct val="108000"/>
              </a:lnSpc>
              <a:buNone/>
            </a:pPr>
            <a:r>
              <a:rPr lang="en-US" sz="1250" dirty="0">
                <a:solidFill>
                  <a:srgbClr val="586160"/>
                </a:solidFill>
                <a:latin typeface="Calibri" pitchFamily="34" charset="0"/>
                <a:ea typeface="Calibri" pitchFamily="34" charset="-122"/>
                <a:cs typeface="Calibri" pitchFamily="34" charset="-120"/>
              </a:rPr>
              <a:t>Team adoption, education &amp; sales-plan outputs</a:t>
            </a:r>
            <a:endParaRPr lang="en-US" sz="1250" dirty="0"/>
          </a:p>
        </p:txBody>
      </p:sp>
      <p:sp>
        <p:nvSpPr>
          <p:cNvPr id="25" name="Text 23"/>
          <p:cNvSpPr/>
          <p:nvPr/>
        </p:nvSpPr>
        <p:spPr>
          <a:xfrm>
            <a:off x="548640" y="5532120"/>
            <a:ext cx="11094415" cy="365760"/>
          </a:xfrm>
          <a:prstGeom prst="rect">
            <a:avLst/>
          </a:prstGeom>
          <a:noFill/>
          <a:ln/>
        </p:spPr>
        <p:txBody>
          <a:bodyPr wrap="square" rtlCol="0" anchor="ctr"/>
          <a:lstStyle/>
          <a:p>
            <a:pPr indent="0" marL="0">
              <a:buNone/>
            </a:pPr>
            <a:r>
              <a:rPr lang="en-US" sz="1500" i="1" dirty="0">
                <a:solidFill>
                  <a:srgbClr val="1B7F4B"/>
                </a:solidFill>
                <a:latin typeface="Calibri" pitchFamily="34" charset="0"/>
                <a:ea typeface="Calibri" pitchFamily="34" charset="-122"/>
                <a:cs typeface="Calibri" pitchFamily="34" charset="-120"/>
              </a:rPr>
              <a:t>Phased by design: each phase is independently valuable and lowers the risk of the next.</a:t>
            </a:r>
            <a:endParaRPr lang="en-US" sz="1500" dirty="0"/>
          </a:p>
        </p:txBody>
      </p:sp>
      <p:sp>
        <p:nvSpPr>
          <p:cNvPr id="26" name="Text 24"/>
          <p:cNvSpPr/>
          <p:nvPr/>
        </p:nvSpPr>
        <p:spPr>
          <a:xfrm>
            <a:off x="548640" y="6473952"/>
            <a:ext cx="11094415" cy="274320"/>
          </a:xfrm>
          <a:prstGeom prst="rect">
            <a:avLst/>
          </a:prstGeom>
          <a:noFill/>
          <a:ln/>
        </p:spPr>
        <p:txBody>
          <a:bodyPr wrap="square" rtlCol="0" anchor="ctr"/>
          <a:lstStyle/>
          <a:p>
            <a:pPr algn="l" indent="0" marL="0">
              <a:buNone/>
            </a:pPr>
            <a:r>
              <a:rPr lang="en-US" sz="900" dirty="0">
                <a:solidFill>
                  <a:srgbClr val="586160"/>
                </a:solidFill>
                <a:latin typeface="Calibri" pitchFamily="34" charset="0"/>
                <a:ea typeface="Calibri" pitchFamily="34" charset="-122"/>
                <a:cs typeface="Calibri" pitchFamily="34" charset="-120"/>
              </a:rPr>
              <a:t>Owned Brands Sales Intelligence Platform</a:t>
            </a:r>
            <a:pPr algn="l" indent="0" marL="0">
              <a:buNone/>
            </a:pPr>
            <a:r>
              <a:rPr lang="en-US" sz="900" dirty="0">
                <a:solidFill>
                  <a:srgbClr val="586160"/>
                </a:solidFill>
                <a:latin typeface="Calibri" pitchFamily="34" charset="0"/>
                <a:ea typeface="Calibri" pitchFamily="34" charset="-122"/>
                <a:cs typeface="Calibri" pitchFamily="34" charset="-120"/>
              </a:rPr>
              <a:t>   ·   Confidential / Internal   ·   9 / 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402A"/>
        </a:solidFill>
      </p:bgPr>
    </p:bg>
    <p:spTree>
      <p:nvGrpSpPr>
        <p:cNvPr id="1" name=""/>
        <p:cNvGrpSpPr/>
        <p:nvPr/>
      </p:nvGrpSpPr>
      <p:grpSpPr>
        <a:xfrm>
          <a:off x="0" y="0"/>
          <a:ext cx="0" cy="0"/>
          <a:chOff x="0" y="0"/>
          <a:chExt cx="0" cy="0"/>
        </a:xfrm>
      </p:grpSpPr>
      <p:sp>
        <p:nvSpPr>
          <p:cNvPr id="2" name="Text 0"/>
          <p:cNvSpPr/>
          <p:nvPr/>
        </p:nvSpPr>
        <p:spPr>
          <a:xfrm>
            <a:off x="548640" y="502920"/>
            <a:ext cx="11094415" cy="320040"/>
          </a:xfrm>
          <a:prstGeom prst="rect">
            <a:avLst/>
          </a:prstGeom>
          <a:noFill/>
          <a:ln/>
        </p:spPr>
        <p:txBody>
          <a:bodyPr wrap="square" rtlCol="0" anchor="ctr"/>
          <a:lstStyle/>
          <a:p>
            <a:pPr indent="0" marL="0">
              <a:buNone/>
            </a:pPr>
            <a:r>
              <a:rPr lang="en-US" sz="1300" spc="300" kern="0" dirty="0">
                <a:solidFill>
                  <a:srgbClr val="37B26B"/>
                </a:solidFill>
                <a:latin typeface="Consolas" pitchFamily="34" charset="0"/>
                <a:ea typeface="Consolas" pitchFamily="34" charset="-122"/>
                <a:cs typeface="Consolas" pitchFamily="34" charset="-120"/>
              </a:rPr>
              <a:t>THE ASK</a:t>
            </a:r>
            <a:endParaRPr lang="en-US" sz="1300" dirty="0"/>
          </a:p>
        </p:txBody>
      </p:sp>
      <p:sp>
        <p:nvSpPr>
          <p:cNvPr id="3" name="Text 1"/>
          <p:cNvSpPr/>
          <p:nvPr/>
        </p:nvSpPr>
        <p:spPr>
          <a:xfrm>
            <a:off x="548640" y="868680"/>
            <a:ext cx="11094415" cy="914400"/>
          </a:xfrm>
          <a:prstGeom prst="rect">
            <a:avLst/>
          </a:prstGeom>
          <a:noFill/>
          <a:ln/>
        </p:spPr>
        <p:txBody>
          <a:bodyPr wrap="square" rtlCol="0" anchor="ctr"/>
          <a:lstStyle/>
          <a:p>
            <a:pPr indent="0" marL="0">
              <a:lnSpc>
                <a:spcPct val="100000"/>
              </a:lnSpc>
              <a:buNone/>
            </a:pPr>
            <a:r>
              <a:rPr lang="en-US" sz="2600" b="1" dirty="0">
                <a:solidFill>
                  <a:srgbClr val="FFFFFF"/>
                </a:solidFill>
                <a:latin typeface="Trebuchet MS" pitchFamily="34" charset="0"/>
                <a:ea typeface="Trebuchet MS" pitchFamily="34" charset="-122"/>
                <a:cs typeface="Trebuchet MS" pitchFamily="34" charset="-120"/>
              </a:rPr>
              <a:t>Approve read-only access, an Azure environment, and governance liaisons</a:t>
            </a:r>
            <a:endParaRPr lang="en-US" sz="2600" dirty="0"/>
          </a:p>
        </p:txBody>
      </p:sp>
      <p:sp>
        <p:nvSpPr>
          <p:cNvPr id="4" name="Shape 2"/>
          <p:cNvSpPr/>
          <p:nvPr/>
        </p:nvSpPr>
        <p:spPr>
          <a:xfrm>
            <a:off x="548640" y="2057400"/>
            <a:ext cx="11094415" cy="1005840"/>
          </a:xfrm>
          <a:prstGeom prst="roundRect">
            <a:avLst>
              <a:gd name="adj" fmla="val 7273"/>
            </a:avLst>
          </a:prstGeom>
          <a:solidFill>
            <a:srgbClr val="0B3020"/>
          </a:solidFill>
          <a:ln w="12700">
            <a:solidFill>
              <a:srgbClr val="1B7F4B"/>
            </a:solidFill>
            <a:prstDash val="solid"/>
          </a:ln>
        </p:spPr>
      </p:sp>
      <p:sp>
        <p:nvSpPr>
          <p:cNvPr id="5" name="Shape 3"/>
          <p:cNvSpPr/>
          <p:nvPr/>
        </p:nvSpPr>
        <p:spPr>
          <a:xfrm>
            <a:off x="822960" y="2286000"/>
            <a:ext cx="548640" cy="548640"/>
          </a:xfrm>
          <a:prstGeom prst="ellipse">
            <a:avLst/>
          </a:prstGeom>
          <a:solidFill>
            <a:srgbClr val="37B26B"/>
          </a:solidFill>
          <a:ln/>
        </p:spPr>
      </p:sp>
      <p:sp>
        <p:nvSpPr>
          <p:cNvPr id="6" name="Text 4"/>
          <p:cNvSpPr/>
          <p:nvPr/>
        </p:nvSpPr>
        <p:spPr>
          <a:xfrm>
            <a:off x="822960" y="228600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1</a:t>
            </a:r>
            <a:endParaRPr lang="en-US" sz="1800" dirty="0"/>
          </a:p>
        </p:txBody>
      </p:sp>
      <p:sp>
        <p:nvSpPr>
          <p:cNvPr id="7" name="Text 5"/>
          <p:cNvSpPr/>
          <p:nvPr/>
        </p:nvSpPr>
        <p:spPr>
          <a:xfrm>
            <a:off x="1600200" y="2203704"/>
            <a:ext cx="3108960" cy="731520"/>
          </a:xfrm>
          <a:prstGeom prst="rect">
            <a:avLst/>
          </a:prstGeom>
          <a:noFill/>
          <a:ln/>
        </p:spPr>
        <p:txBody>
          <a:bodyPr wrap="square"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Read-only data access</a:t>
            </a:r>
            <a:endParaRPr lang="en-US" sz="1600" dirty="0"/>
          </a:p>
        </p:txBody>
      </p:sp>
      <p:sp>
        <p:nvSpPr>
          <p:cNvPr id="8" name="Text 6"/>
          <p:cNvSpPr/>
          <p:nvPr/>
        </p:nvSpPr>
        <p:spPr>
          <a:xfrm>
            <a:off x="4754880" y="2167128"/>
            <a:ext cx="6613855" cy="822960"/>
          </a:xfrm>
          <a:prstGeom prst="rect">
            <a:avLst/>
          </a:prstGeom>
          <a:noFill/>
          <a:ln/>
        </p:spPr>
        <p:txBody>
          <a:bodyPr wrap="square" rtlCol="0" anchor="ctr"/>
          <a:lstStyle/>
          <a:p>
            <a:pPr indent="0" marL="0">
              <a:lnSpc>
                <a:spcPct val="103000"/>
              </a:lnSpc>
              <a:buNone/>
            </a:pPr>
            <a:r>
              <a:rPr lang="en-US" sz="1300" dirty="0">
                <a:solidFill>
                  <a:srgbClr val="D6E8DD"/>
                </a:solidFill>
                <a:latin typeface="Calibri" pitchFamily="34" charset="0"/>
                <a:ea typeface="Calibri" pitchFamily="34" charset="-122"/>
                <a:cs typeface="Calibri" pitchFamily="34" charset="-120"/>
              </a:rPr>
              <a:t>Governed WCO sales data incl. margin/cost, via certified datasets, Power BI, or the API layer. User group: the Owned Brands sales team only. No access provided outside of OB.</a:t>
            </a:r>
            <a:endParaRPr lang="en-US" sz="1300" dirty="0"/>
          </a:p>
        </p:txBody>
      </p:sp>
      <p:sp>
        <p:nvSpPr>
          <p:cNvPr id="9" name="Shape 7"/>
          <p:cNvSpPr/>
          <p:nvPr/>
        </p:nvSpPr>
        <p:spPr>
          <a:xfrm>
            <a:off x="548640" y="3200400"/>
            <a:ext cx="11094415" cy="1005840"/>
          </a:xfrm>
          <a:prstGeom prst="roundRect">
            <a:avLst>
              <a:gd name="adj" fmla="val 7273"/>
            </a:avLst>
          </a:prstGeom>
          <a:solidFill>
            <a:srgbClr val="0B3020"/>
          </a:solidFill>
          <a:ln w="12700">
            <a:solidFill>
              <a:srgbClr val="1B7F4B"/>
            </a:solidFill>
            <a:prstDash val="solid"/>
          </a:ln>
        </p:spPr>
      </p:sp>
      <p:sp>
        <p:nvSpPr>
          <p:cNvPr id="10" name="Shape 8"/>
          <p:cNvSpPr/>
          <p:nvPr/>
        </p:nvSpPr>
        <p:spPr>
          <a:xfrm>
            <a:off x="822960" y="3429000"/>
            <a:ext cx="548640" cy="548640"/>
          </a:xfrm>
          <a:prstGeom prst="ellipse">
            <a:avLst/>
          </a:prstGeom>
          <a:solidFill>
            <a:srgbClr val="37B26B"/>
          </a:solidFill>
          <a:ln/>
        </p:spPr>
      </p:sp>
      <p:sp>
        <p:nvSpPr>
          <p:cNvPr id="11" name="Text 9"/>
          <p:cNvSpPr/>
          <p:nvPr/>
        </p:nvSpPr>
        <p:spPr>
          <a:xfrm>
            <a:off x="822960" y="342900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2</a:t>
            </a:r>
            <a:endParaRPr lang="en-US" sz="1800" dirty="0"/>
          </a:p>
        </p:txBody>
      </p:sp>
      <p:sp>
        <p:nvSpPr>
          <p:cNvPr id="12" name="Text 10"/>
          <p:cNvSpPr/>
          <p:nvPr/>
        </p:nvSpPr>
        <p:spPr>
          <a:xfrm>
            <a:off x="1600200" y="3346704"/>
            <a:ext cx="3108960" cy="731520"/>
          </a:xfrm>
          <a:prstGeom prst="rect">
            <a:avLst/>
          </a:prstGeom>
          <a:noFill/>
          <a:ln/>
        </p:spPr>
        <p:txBody>
          <a:bodyPr wrap="square"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Azure build environment</a:t>
            </a:r>
            <a:endParaRPr lang="en-US" sz="1600" dirty="0"/>
          </a:p>
        </p:txBody>
      </p:sp>
      <p:sp>
        <p:nvSpPr>
          <p:cNvPr id="13" name="Text 11"/>
          <p:cNvSpPr/>
          <p:nvPr/>
        </p:nvSpPr>
        <p:spPr>
          <a:xfrm>
            <a:off x="4754880" y="3310128"/>
            <a:ext cx="6613855" cy="822960"/>
          </a:xfrm>
          <a:prstGeom prst="rect">
            <a:avLst/>
          </a:prstGeom>
          <a:noFill/>
          <a:ln/>
        </p:spPr>
        <p:txBody>
          <a:bodyPr wrap="square" rtlCol="0" anchor="ctr"/>
          <a:lstStyle/>
          <a:p>
            <a:pPr indent="0" marL="0">
              <a:lnSpc>
                <a:spcPct val="103000"/>
              </a:lnSpc>
              <a:buNone/>
            </a:pPr>
            <a:r>
              <a:rPr lang="en-US" sz="1300" dirty="0">
                <a:solidFill>
                  <a:srgbClr val="D6E8DD"/>
                </a:solidFill>
                <a:latin typeface="Calibri" pitchFamily="34" charset="0"/>
                <a:ea typeface="Calibri" pitchFamily="34" charset="-122"/>
                <a:cs typeface="Calibri" pitchFamily="34" charset="-120"/>
              </a:rPr>
              <a:t>Subscription / resource group under WCO governance, Entra ID app registration, Azure OpenAI in-tenant, and a Power BI workspace with certified-dataset read access.</a:t>
            </a:r>
            <a:endParaRPr lang="en-US" sz="1300" dirty="0"/>
          </a:p>
        </p:txBody>
      </p:sp>
      <p:sp>
        <p:nvSpPr>
          <p:cNvPr id="14" name="Shape 12"/>
          <p:cNvSpPr/>
          <p:nvPr/>
        </p:nvSpPr>
        <p:spPr>
          <a:xfrm>
            <a:off x="548640" y="4343400"/>
            <a:ext cx="11094415" cy="1005840"/>
          </a:xfrm>
          <a:prstGeom prst="roundRect">
            <a:avLst>
              <a:gd name="adj" fmla="val 7273"/>
            </a:avLst>
          </a:prstGeom>
          <a:solidFill>
            <a:srgbClr val="0B3020"/>
          </a:solidFill>
          <a:ln w="12700">
            <a:solidFill>
              <a:srgbClr val="1B7F4B"/>
            </a:solidFill>
            <a:prstDash val="solid"/>
          </a:ln>
        </p:spPr>
      </p:sp>
      <p:sp>
        <p:nvSpPr>
          <p:cNvPr id="15" name="Shape 13"/>
          <p:cNvSpPr/>
          <p:nvPr/>
        </p:nvSpPr>
        <p:spPr>
          <a:xfrm>
            <a:off x="822960" y="4572000"/>
            <a:ext cx="548640" cy="548640"/>
          </a:xfrm>
          <a:prstGeom prst="ellipse">
            <a:avLst/>
          </a:prstGeom>
          <a:solidFill>
            <a:srgbClr val="37B26B"/>
          </a:solidFill>
          <a:ln/>
        </p:spPr>
      </p:sp>
      <p:sp>
        <p:nvSpPr>
          <p:cNvPr id="16" name="Text 14"/>
          <p:cNvSpPr/>
          <p:nvPr/>
        </p:nvSpPr>
        <p:spPr>
          <a:xfrm>
            <a:off x="822960" y="4572000"/>
            <a:ext cx="548640" cy="548640"/>
          </a:xfrm>
          <a:prstGeom prst="rect">
            <a:avLst/>
          </a:prstGeom>
          <a:noFill/>
          <a:ln/>
        </p:spPr>
        <p:txBody>
          <a:bodyPr wrap="square"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3</a:t>
            </a:r>
            <a:endParaRPr lang="en-US" sz="1800" dirty="0"/>
          </a:p>
        </p:txBody>
      </p:sp>
      <p:sp>
        <p:nvSpPr>
          <p:cNvPr id="17" name="Text 15"/>
          <p:cNvSpPr/>
          <p:nvPr/>
        </p:nvSpPr>
        <p:spPr>
          <a:xfrm>
            <a:off x="1600200" y="4489704"/>
            <a:ext cx="3108960" cy="731520"/>
          </a:xfrm>
          <a:prstGeom prst="rect">
            <a:avLst/>
          </a:prstGeom>
          <a:noFill/>
          <a:ln/>
        </p:spPr>
        <p:txBody>
          <a:bodyPr wrap="square"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Governance liaisons</a:t>
            </a:r>
            <a:endParaRPr lang="en-US" sz="1600" dirty="0"/>
          </a:p>
        </p:txBody>
      </p:sp>
      <p:sp>
        <p:nvSpPr>
          <p:cNvPr id="18" name="Text 16"/>
          <p:cNvSpPr/>
          <p:nvPr/>
        </p:nvSpPr>
        <p:spPr>
          <a:xfrm>
            <a:off x="4754880" y="4453128"/>
            <a:ext cx="6613855" cy="822960"/>
          </a:xfrm>
          <a:prstGeom prst="rect">
            <a:avLst/>
          </a:prstGeom>
          <a:noFill/>
          <a:ln/>
        </p:spPr>
        <p:txBody>
          <a:bodyPr wrap="square" rtlCol="0" anchor="ctr"/>
          <a:lstStyle/>
          <a:p>
            <a:pPr indent="0" marL="0">
              <a:lnSpc>
                <a:spcPct val="103000"/>
              </a:lnSpc>
              <a:buNone/>
            </a:pPr>
            <a:r>
              <a:rPr lang="en-US" sz="1300" dirty="0">
                <a:solidFill>
                  <a:srgbClr val="D6E8DD"/>
                </a:solidFill>
                <a:latin typeface="Calibri" pitchFamily="34" charset="0"/>
                <a:ea typeface="Calibri" pitchFamily="34" charset="-122"/>
                <a:cs typeface="Calibri" pitchFamily="34" charset="-120"/>
              </a:rPr>
              <a:t>Named contacts from Data Office, BI Governance, Cloud Engineering, and IT Security, plus confirmation of the access-request workflow and margin/cost classification.</a:t>
            </a:r>
            <a:endParaRPr lang="en-US" sz="1300" dirty="0"/>
          </a:p>
        </p:txBody>
      </p:sp>
      <p:sp>
        <p:nvSpPr>
          <p:cNvPr id="19" name="Text 17"/>
          <p:cNvSpPr/>
          <p:nvPr/>
        </p:nvSpPr>
        <p:spPr>
          <a:xfrm>
            <a:off x="548640" y="5623560"/>
            <a:ext cx="11094415" cy="365760"/>
          </a:xfrm>
          <a:prstGeom prst="rect">
            <a:avLst/>
          </a:prstGeom>
          <a:noFill/>
          <a:ln/>
        </p:spPr>
        <p:txBody>
          <a:bodyPr wrap="square" rtlCol="0" anchor="ctr"/>
          <a:lstStyle/>
          <a:p>
            <a:pPr indent="0" marL="0">
              <a:buNone/>
            </a:pPr>
            <a:r>
              <a:rPr lang="en-US" sz="1300" b="1" dirty="0">
                <a:solidFill>
                  <a:srgbClr val="37B26B"/>
                </a:solidFill>
                <a:latin typeface="Calibri" pitchFamily="34" charset="0"/>
                <a:ea typeface="Calibri" pitchFamily="34" charset="-122"/>
                <a:cs typeface="Calibri" pitchFamily="34" charset="-120"/>
              </a:rPr>
              <a:t>Not requested: </a:t>
            </a:r>
            <a:pPr indent="0" marL="0">
              <a:buNone/>
            </a:pPr>
            <a:r>
              <a:rPr lang="en-US" sz="1300" dirty="0">
                <a:solidFill>
                  <a:srgbClr val="B9D2C5"/>
                </a:solidFill>
                <a:latin typeface="Calibri" pitchFamily="34" charset="0"/>
                <a:ea typeface="Calibri" pitchFamily="34" charset="-122"/>
                <a:cs typeface="Calibri" pitchFamily="34" charset="-120"/>
              </a:rPr>
              <a:t>writes to the ERP or CRM, direct DB connectivity, data duplication, access outside OB, or any egress.</a:t>
            </a:r>
            <a:endParaRPr lang="en-US" sz="1300" dirty="0"/>
          </a:p>
        </p:txBody>
      </p:sp>
      <p:sp>
        <p:nvSpPr>
          <p:cNvPr id="20" name="Text 18"/>
          <p:cNvSpPr/>
          <p:nvPr/>
        </p:nvSpPr>
        <p:spPr>
          <a:xfrm>
            <a:off x="548640" y="6035040"/>
            <a:ext cx="11094415" cy="457200"/>
          </a:xfrm>
          <a:prstGeom prst="rect">
            <a:avLst/>
          </a:prstGeom>
          <a:noFill/>
          <a:ln/>
        </p:spPr>
        <p:txBody>
          <a:bodyPr wrap="square" rtlCol="0" anchor="ctr"/>
          <a:lstStyle/>
          <a:p>
            <a:pPr indent="0" marL="0">
              <a:buNone/>
            </a:pPr>
            <a:r>
              <a:rPr lang="en-US" sz="1500" b="1" i="1" dirty="0">
                <a:solidFill>
                  <a:srgbClr val="FFFFFF"/>
                </a:solidFill>
                <a:latin typeface="Trebuchet MS" pitchFamily="34" charset="0"/>
                <a:ea typeface="Trebuchet MS" pitchFamily="34" charset="-122"/>
                <a:cs typeface="Trebuchet MS" pitchFamily="34" charset="-120"/>
              </a:rPr>
              <a:t>Approve these, and the Owned Brands team can see the signals and act on them.</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2026-06-20T16:54:53Z</dcterms:created>
  <dcterms:modified xsi:type="dcterms:W3CDTF">2026-06-20T16:54:53Z</dcterms:modified>
</cp:coreProperties>
</file>