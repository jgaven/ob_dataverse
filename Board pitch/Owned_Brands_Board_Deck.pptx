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4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37B2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WCO  ·  OWNED BRANDS  ·  DATAVERS BRIEF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11094415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signals to help WCO sellers win deals</a:t>
            </a:r>
            <a:endParaRPr lang="en-US" sz="40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and hold owned-brand margin.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93192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D6E8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read-only, vendor-side intelligence and activity platform inside WCO. It surfaces the signals and tracks our engagement, so the Owned Brands team engages the right opportunity at the right time.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029200"/>
            <a:ext cx="11094415" cy="713232"/>
          </a:xfrm>
          <a:prstGeom prst="roundRect">
            <a:avLst>
              <a:gd name="adj" fmla="val 12821"/>
            </a:avLst>
          </a:prstGeom>
          <a:solidFill>
            <a:srgbClr val="0B3020"/>
          </a:solidFill>
          <a:ln w="12700">
            <a:solidFill>
              <a:srgbClr val="1B7F4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5029200"/>
            <a:ext cx="11094415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surface signal</a:t>
            </a:r>
            <a:pPr algn="ctr" indent="0" marL="0">
              <a:buNone/>
            </a:pPr>
            <a:r>
              <a:rPr lang="en-US" sz="1300" b="1" dirty="0">
                <a:solidFill>
                  <a:srgbClr val="37B2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reach the right seller</a:t>
            </a:r>
            <a:pPr algn="ctr" indent="0" marL="0">
              <a:buNone/>
            </a:pPr>
            <a:r>
              <a:rPr lang="en-US" sz="1300" b="1" dirty="0">
                <a:solidFill>
                  <a:srgbClr val="37B2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 &amp; hold margin</a:t>
            </a:r>
            <a:pPr algn="ctr" indent="0" marL="0">
              <a:buNone/>
            </a:pPr>
            <a:r>
              <a:rPr lang="en-US" sz="1300" b="1" dirty="0">
                <a:solidFill>
                  <a:srgbClr val="37B2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growth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612648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Jeff Goodman   ·   Director, Sales, Owned Brands   ·   June 19, 2026   ·   Status: Discovery / prototype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1B7F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WHO WE ARE, AND WHAT IS MISSING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lack the signals that win deals and protect margin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3515258" cy="3108960"/>
          </a:xfrm>
          <a:prstGeom prst="roundRect">
            <a:avLst>
              <a:gd name="adj" fmla="val 2647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2468880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4688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◉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3154680"/>
            <a:ext cx="296661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the vendor team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3840480"/>
            <a:ext cx="2966618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WCO is our primary customer. The Owned Brands team calls on WCO sellers and select customers to help them win with owned brands.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38218" y="2148840"/>
            <a:ext cx="3515258" cy="3108960"/>
          </a:xfrm>
          <a:prstGeom prst="roundRect">
            <a:avLst>
              <a:gd name="adj" fmla="val 2647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58258" y="2468880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11" name="Text 9"/>
          <p:cNvSpPr/>
          <p:nvPr/>
        </p:nvSpPr>
        <p:spPr>
          <a:xfrm>
            <a:off x="4658258" y="24688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⚑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612538" y="3154680"/>
            <a:ext cx="296661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have no early warning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12538" y="3840480"/>
            <a:ext cx="2966618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cannot see which sellers are about to lose a winnable deal, or where competitive pressure is eroding owned-brand margin.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127797" y="2148840"/>
            <a:ext cx="3515258" cy="3108960"/>
          </a:xfrm>
          <a:prstGeom prst="roundRect">
            <a:avLst>
              <a:gd name="adj" fmla="val 2647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47837" y="2468880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16" name="Text 14"/>
          <p:cNvSpPr/>
          <p:nvPr/>
        </p:nvSpPr>
        <p:spPr>
          <a:xfrm>
            <a:off x="8447837" y="24688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▤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402117" y="3154680"/>
            <a:ext cx="296661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have no purpose-built tools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402117" y="3840480"/>
            <a:ext cx="2966618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WCO’s ERP and CRM were not built for the vendor lens. Tools designed for it would lift win rate and margin organization-wide.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" y="548640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B7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platform’s role: surface those signals and position the Owned Brands team where it can change the outcome.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Owned Brands Sales Intelligence Platform</a:t>
            </a:r>
            <a:pPr algn="l" indent="0" marL="0">
              <a:buNone/>
            </a:pPr>
            <a:r>
              <a:rPr lang="en-US" sz="9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Confidential / Internal   ·   2 / 10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1B7F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 PRACTICE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deal we would lose today, and how the platform wins it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2240280"/>
            <a:ext cx="3362858" cy="3200400"/>
          </a:xfrm>
          <a:prstGeom prst="roundRect">
            <a:avLst>
              <a:gd name="adj" fmla="val 2571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468880"/>
            <a:ext cx="281421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7F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deal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971800"/>
            <a:ext cx="2814218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42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WCO seller is bidding a security project: a national-brand camera line, with the rest of the bill of materials still open. The seller sourced it and holds registered project pricing on the cameras.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3911498" y="2240280"/>
            <a:ext cx="5029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7B2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4414418" y="2240280"/>
            <a:ext cx="3362858" cy="3200400"/>
          </a:xfrm>
          <a:prstGeom prst="roundRect">
            <a:avLst>
              <a:gd name="adj" fmla="val 2571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88738" y="2468880"/>
            <a:ext cx="281421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7F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threat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688738" y="2971800"/>
            <a:ext cx="2814218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42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competing distributor bids the same cameras, but pairs them with its own-brand cable. The extra margin on that cable lets it beat our total price, registered pricing and all.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777277" y="2240280"/>
            <a:ext cx="5029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7B2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8280197" y="2240280"/>
            <a:ext cx="3362858" cy="3200400"/>
          </a:xfrm>
          <a:prstGeom prst="roundRect">
            <a:avLst>
              <a:gd name="adj" fmla="val 2571"/>
            </a:avLst>
          </a:prstGeom>
          <a:solidFill>
            <a:srgbClr val="1B7F4B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54517" y="2468880"/>
            <a:ext cx="281421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we win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554517" y="2971800"/>
            <a:ext cx="2814218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E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flags this seller. The OB team helps specify Owned Brands into the bill of materials, lifting margin and sharpening total price, so WCO keeps the deal.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48640" y="571500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B7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no system surfaces this seller in time. Closing that gap is the platform’s core purpose.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Owned Brands Sales Intelligence Platform</a:t>
            </a:r>
            <a:pPr algn="l" indent="0" marL="0">
              <a:buNone/>
            </a:pPr>
            <a:r>
              <a:rPr lang="en-US" sz="9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Confidential / Internal   ·   3 / 10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1B7F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ENGINE, OUR NORTH STAR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loop moves a signal to a closed, higher-margin deal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2377440"/>
            <a:ext cx="2396414" cy="2286000"/>
          </a:xfrm>
          <a:prstGeom prst="roundRect">
            <a:avLst>
              <a:gd name="adj" fmla="val 3600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72527" y="2606040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6" name="Text 4"/>
          <p:cNvSpPr/>
          <p:nvPr/>
        </p:nvSpPr>
        <p:spPr>
          <a:xfrm>
            <a:off x="1472527" y="26060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3291840"/>
            <a:ext cx="239641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Surface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203065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signal in the governed data: a deal at risk or margin under pressure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945054" y="2377440"/>
            <a:ext cx="5029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7B2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3447974" y="2377440"/>
            <a:ext cx="2396414" cy="2286000"/>
          </a:xfrm>
          <a:prstGeom prst="roundRect">
            <a:avLst>
              <a:gd name="adj" fmla="val 3600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71861" y="2606040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12" name="Text 10"/>
          <p:cNvSpPr/>
          <p:nvPr/>
        </p:nvSpPr>
        <p:spPr>
          <a:xfrm>
            <a:off x="4371861" y="26060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447974" y="3291840"/>
            <a:ext cx="239641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Reach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630854" y="3749040"/>
            <a:ext cx="203065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right WCO seller or customer, at the right time, with the cross and context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844388" y="2377440"/>
            <a:ext cx="5029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7B2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6347308" y="2377440"/>
            <a:ext cx="2396414" cy="2286000"/>
          </a:xfrm>
          <a:prstGeom prst="roundRect">
            <a:avLst>
              <a:gd name="adj" fmla="val 3600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71195" y="2606040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18" name="Text 16"/>
          <p:cNvSpPr/>
          <p:nvPr/>
        </p:nvSpPr>
        <p:spPr>
          <a:xfrm>
            <a:off x="7271195" y="26060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347308" y="3291840"/>
            <a:ext cx="239641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Win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530188" y="3749040"/>
            <a:ext cx="203065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 close the deal and protect owned-brand margin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743721" y="2377440"/>
            <a:ext cx="5029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7B2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</a:t>
            </a:r>
            <a:endParaRPr lang="en-US" sz="2600" dirty="0"/>
          </a:p>
        </p:txBody>
      </p:sp>
      <p:sp>
        <p:nvSpPr>
          <p:cNvPr id="22" name="Shape 20"/>
          <p:cNvSpPr/>
          <p:nvPr/>
        </p:nvSpPr>
        <p:spPr>
          <a:xfrm>
            <a:off x="9246641" y="2377440"/>
            <a:ext cx="2396414" cy="2286000"/>
          </a:xfrm>
          <a:prstGeom prst="roundRect">
            <a:avLst>
              <a:gd name="adj" fmla="val 3600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170528" y="2606040"/>
            <a:ext cx="548640" cy="548640"/>
          </a:xfrm>
          <a:prstGeom prst="ellipse">
            <a:avLst/>
          </a:prstGeom>
          <a:solidFill>
            <a:srgbClr val="37B26B"/>
          </a:solidFill>
          <a:ln/>
        </p:spPr>
      </p:sp>
      <p:sp>
        <p:nvSpPr>
          <p:cNvPr id="24" name="Text 22"/>
          <p:cNvSpPr/>
          <p:nvPr/>
        </p:nvSpPr>
        <p:spPr>
          <a:xfrm>
            <a:off x="10170528" y="26060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246641" y="3291840"/>
            <a:ext cx="239641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9429521" y="3749040"/>
            <a:ext cx="203065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Owned-brand share grows; the engagement is captured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48640" y="507492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42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SKU is the spine. 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detail view unifies sales, stock, opportunities, crosses, and activity. Two tiers run the model: the WCO seller channel (push) and WCO customers (pull).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Owned Brands Sales Intelligence Platform</a:t>
            </a:r>
            <a:pPr algn="l" indent="0" marL="0">
              <a:buNone/>
            </a:pPr>
            <a:r>
              <a:rPr lang="en-US" sz="9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Confidential / Internal   ·   4 / 10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1B7F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YOU GET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vendor-side platform and CRM, already prototyped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3454298" cy="1371600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441448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44144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⇄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63040" y="2395728"/>
            <a:ext cx="240273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Cross database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463040" y="2761488"/>
            <a:ext cx="240273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product to owned-brand mapping. OB enablement, not org-wide access.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68698" y="2194560"/>
            <a:ext cx="3454298" cy="1371600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97298" y="2441448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11" name="Text 9"/>
          <p:cNvSpPr/>
          <p:nvPr/>
        </p:nvSpPr>
        <p:spPr>
          <a:xfrm>
            <a:off x="4597298" y="244144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◎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283098" y="2395728"/>
            <a:ext cx="240273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Signals + supply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283098" y="2761488"/>
            <a:ext cx="240273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to engage: deals at risk, margin under pressure, and the supporting stock signal.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88757" y="2194560"/>
            <a:ext cx="3454298" cy="1371600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17357" y="2441448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16" name="Text 14"/>
          <p:cNvSpPr/>
          <p:nvPr/>
        </p:nvSpPr>
        <p:spPr>
          <a:xfrm>
            <a:off x="8417357" y="244144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☷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103157" y="2395728"/>
            <a:ext cx="240273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Vendor-lens CRM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103157" y="2761488"/>
            <a:ext cx="240273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OB-generated opportunities; engagement with WCO sellers, our customer (not in the CRM).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3886200"/>
            <a:ext cx="3454298" cy="1371600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7240" y="4133088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413308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✉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463040" y="4087368"/>
            <a:ext cx="240273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email-drop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463040" y="4453128"/>
            <a:ext cx="240273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note becomes structured records; opportunity-loss and product signals.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368698" y="3886200"/>
            <a:ext cx="3454298" cy="1371600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97298" y="4133088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26" name="Text 24"/>
          <p:cNvSpPr/>
          <p:nvPr/>
        </p:nvSpPr>
        <p:spPr>
          <a:xfrm>
            <a:off x="4597298" y="413308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▣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283098" y="4087368"/>
            <a:ext cx="240273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Leadership dashboard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5283098" y="4453128"/>
            <a:ext cx="240273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Natural-language query over the whole pipeline.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8188757" y="3886200"/>
            <a:ext cx="3454298" cy="1371600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417357" y="4133088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31" name="Text 29"/>
          <p:cNvSpPr/>
          <p:nvPr/>
        </p:nvSpPr>
        <p:spPr>
          <a:xfrm>
            <a:off x="8417357" y="413308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▤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9103157" y="4087368"/>
            <a:ext cx="240273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Inventory &amp; forecast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9103157" y="4453128"/>
            <a:ext cx="240273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overlay with pipeline-weighted demand.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548640" y="571500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B7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read-only and in-tenant. Margin/cost confined to the authorized OB group.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Owned Brands Sales Intelligence Platform</a:t>
            </a:r>
            <a:pPr algn="l" indent="0" marL="0">
              <a:buNone/>
            </a:pPr>
            <a:r>
              <a:rPr lang="en-US" sz="9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Confidential / Internal   ·   5 / 10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1B7F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PROOF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Already prototyped: the leadership view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84632" y="1444752"/>
            <a:ext cx="6483096" cy="4541266"/>
          </a:xfrm>
          <a:prstGeom prst="roundRect">
            <a:avLst>
              <a:gd name="adj" fmla="val 805"/>
            </a:avLst>
          </a:prstGeom>
          <a:solidFill>
            <a:srgbClr val="EAF4EE"/>
          </a:solidFill>
          <a:ln w="12700">
            <a:solidFill>
              <a:srgbClr val="DCE5DF"/>
            </a:solidFill>
            <a:prstDash val="solid"/>
          </a:ln>
        </p:spPr>
      </p:sp>
      <p:pic>
        <p:nvPicPr>
          <p:cNvPr id="5" name="Image 0" descr="/Users/jeffgoodman/Documents/Dataverse/Board pitch/prototype_sh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08760"/>
            <a:ext cx="6355080" cy="441325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315200" y="1600200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0" y="1600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28432" y="1581912"/>
            <a:ext cx="3614623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Conversion value loop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028432" y="1947672"/>
            <a:ext cx="3614623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Identified → crossed → in progress → converted, tracked live.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7315200" y="2834640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0" y="28346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8028432" y="2816352"/>
            <a:ext cx="3614623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Pipeline by owned brand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8028432" y="3182112"/>
            <a:ext cx="3614623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LCO AV, LCO Cable and more, ranked by open opportunity.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315200" y="4069080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0" y="40690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8028432" y="4050792"/>
            <a:ext cx="3614623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Engagement by party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8028432" y="4416552"/>
            <a:ext cx="3614623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Calls, visits, demos logged for the WCO seller and customer.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548640" y="60533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B7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two-persona wireframe (Leadership + Sales Team); sample data only. This is proven UX, not a concept.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Owned Brands Sales Intelligence Platform</a:t>
            </a:r>
            <a:pPr algn="l" indent="0" marL="0">
              <a:buNone/>
            </a:pPr>
            <a:r>
              <a:rPr lang="en-US" sz="9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Confidential / Internal   ·   6 / 10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1B7F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 NOW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team is built to execute. The tool is the missing piece.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2286000"/>
            <a:ext cx="6400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42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have integrated the LCO sales organization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42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adding capability and aligning structure to the Owned Brands mandate inside WCO. The structure is in place; the missing piece is the toolset that gives it the visibility it does not have today.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48640" y="3611880"/>
            <a:ext cx="6400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Equipping the team now compounds that structural investment. Without it, winnable deals like the one above continue to slip away unseen.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498080" y="2194560"/>
            <a:ext cx="4144975" cy="3017520"/>
          </a:xfrm>
          <a:prstGeom prst="roundRect">
            <a:avLst>
              <a:gd name="adj" fmla="val 3030"/>
            </a:avLst>
          </a:prstGeom>
          <a:solidFill>
            <a:srgbClr val="10402A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0" y="2514600"/>
            <a:ext cx="414497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spc="200" kern="0" dirty="0">
                <a:solidFill>
                  <a:srgbClr val="37B2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FIRST 90 DAYS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498080" y="2743200"/>
            <a:ext cx="4144975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30</a:t>
            </a:r>
            <a:endParaRPr lang="en-US" sz="9600" dirty="0"/>
          </a:p>
        </p:txBody>
      </p:sp>
      <p:sp>
        <p:nvSpPr>
          <p:cNvPr id="9" name="Text 7"/>
          <p:cNvSpPr/>
          <p:nvPr/>
        </p:nvSpPr>
        <p:spPr>
          <a:xfrm>
            <a:off x="7863840" y="4297680"/>
            <a:ext cx="341345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D6E8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opportunities WCO would otherwise have lost, identified and supported.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Owned Brands Sales Intelligence Platform</a:t>
            </a:r>
            <a:pPr algn="l" indent="0" marL="0">
              <a:buNone/>
            </a:pPr>
            <a:r>
              <a:rPr lang="en-US" sz="9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Confidential / Internal   ·   7 / 10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1B7F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ARCHITECTURE &amp; GOVERNANCE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Governed end to end: read-only data in, the win out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468880" cy="2514600"/>
          </a:xfrm>
          <a:prstGeom prst="roundRect">
            <a:avLst>
              <a:gd name="adj" fmla="val 3333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993392"/>
            <a:ext cx="20665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WCO sources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49808" y="2542032"/>
            <a:ext cx="206654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(CORE)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(USD)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49808" y="3867912"/>
            <a:ext cx="2066544" cy="310896"/>
          </a:xfrm>
          <a:prstGeom prst="roundRect">
            <a:avLst>
              <a:gd name="adj" fmla="val 17647"/>
            </a:avLst>
          </a:prstGeom>
          <a:solidFill>
            <a:srgbClr val="EAF4EE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3867912"/>
            <a:ext cx="20665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7F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systems of record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017520" y="1828800"/>
            <a:ext cx="406298" cy="2514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7B2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3423818" y="1828800"/>
            <a:ext cx="2468880" cy="2514600"/>
          </a:xfrm>
          <a:prstGeom prst="roundRect">
            <a:avLst>
              <a:gd name="adj" fmla="val 3333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24986" y="1993392"/>
            <a:ext cx="20665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Governed access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624986" y="2542032"/>
            <a:ext cx="206654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Certified datasets,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BI, or the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API layer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24986" y="3867912"/>
            <a:ext cx="2066544" cy="310896"/>
          </a:xfrm>
          <a:prstGeom prst="roundRect">
            <a:avLst>
              <a:gd name="adj" fmla="val 17647"/>
            </a:avLst>
          </a:prstGeom>
          <a:solidFill>
            <a:srgbClr val="1B7F4B"/>
          </a:solidFill>
          <a:ln/>
        </p:spPr>
      </p:sp>
      <p:sp>
        <p:nvSpPr>
          <p:cNvPr id="14" name="Text 12"/>
          <p:cNvSpPr/>
          <p:nvPr/>
        </p:nvSpPr>
        <p:spPr>
          <a:xfrm>
            <a:off x="3624986" y="3867912"/>
            <a:ext cx="20665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read-only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892698" y="1828800"/>
            <a:ext cx="406298" cy="2514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7B2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298997" y="1828800"/>
            <a:ext cx="2468880" cy="2514600"/>
          </a:xfrm>
          <a:prstGeom prst="roundRect">
            <a:avLst>
              <a:gd name="adj" fmla="val 3333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00165" y="1993392"/>
            <a:ext cx="20665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OB_Datavers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00165" y="2542032"/>
            <a:ext cx="206654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Cross-reference engine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store, Azure SQL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layer, Azure OpenAI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500165" y="3867912"/>
            <a:ext cx="2066544" cy="310896"/>
          </a:xfrm>
          <a:prstGeom prst="roundRect">
            <a:avLst>
              <a:gd name="adj" fmla="val 17647"/>
            </a:avLst>
          </a:prstGeom>
          <a:solidFill>
            <a:srgbClr val="EAF4EE"/>
          </a:solidFill>
          <a:ln/>
        </p:spPr>
      </p:sp>
      <p:sp>
        <p:nvSpPr>
          <p:cNvPr id="20" name="Text 18"/>
          <p:cNvSpPr/>
          <p:nvPr/>
        </p:nvSpPr>
        <p:spPr>
          <a:xfrm>
            <a:off x="6500165" y="3867912"/>
            <a:ext cx="20665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7F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isolated, in-tenant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767877" y="1828800"/>
            <a:ext cx="406298" cy="2514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7B2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9174175" y="1828800"/>
            <a:ext cx="2468880" cy="2514600"/>
          </a:xfrm>
          <a:prstGeom prst="roundRect">
            <a:avLst>
              <a:gd name="adj" fmla="val 3333"/>
            </a:avLst>
          </a:prstGeom>
          <a:solidFill>
            <a:srgbClr val="1B7F4B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375343" y="1993392"/>
            <a:ext cx="20665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Dashboard, then the win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375343" y="2542032"/>
            <a:ext cx="206654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Embedded Power BI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 signals surfaced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owned brands, win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4709160"/>
            <a:ext cx="11094415" cy="457200"/>
          </a:xfrm>
          <a:prstGeom prst="roundRect">
            <a:avLst>
              <a:gd name="adj" fmla="val 16000"/>
            </a:avLst>
          </a:prstGeom>
          <a:solidFill>
            <a:srgbClr val="10402A"/>
          </a:solidFill>
          <a:ln/>
        </p:spPr>
      </p:sp>
      <p:sp>
        <p:nvSpPr>
          <p:cNvPr id="26" name="Text 24"/>
          <p:cNvSpPr/>
          <p:nvPr/>
        </p:nvSpPr>
        <p:spPr>
          <a:xfrm>
            <a:off x="548640" y="4709160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ID SSO   ·   RBAC + row-level security   ·   stays inside the Microsoft / Azure boundary, no egress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48640" y="530352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63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doing: </a:t>
            </a:r>
            <a:pPr algn="ctr" indent="0" marL="0">
              <a:buNone/>
            </a:pPr>
            <a:r>
              <a:rPr lang="en-US" sz="13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writes to the ERP or CRM, no direct DB connectivity, no duplication, no access outside OB, no egress.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48640" y="5742432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1B7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and aligned to confirmed WCO Azure standards; the exact governed-data mechanism is confirmed with the Data Office before build.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Owned Brands Sales Intelligence Platform</a:t>
            </a:r>
            <a:pPr algn="l" indent="0" marL="0">
              <a:buNone/>
            </a:pPr>
            <a:r>
              <a:rPr lang="en-US" sz="9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Confidential / Internal   ·   8 / 10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1B7F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PLAN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phased build I can execute solo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511778" y="3017520"/>
            <a:ext cx="9168140" cy="0"/>
          </a:xfrm>
          <a:prstGeom prst="line">
            <a:avLst/>
          </a:prstGeom>
          <a:noFill/>
          <a:ln w="25400">
            <a:solidFill>
              <a:srgbClr val="DCE5D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37458" y="2743200"/>
            <a:ext cx="548640" cy="548640"/>
          </a:xfrm>
          <a:prstGeom prst="ellipse">
            <a:avLst/>
          </a:prstGeom>
          <a:solidFill>
            <a:srgbClr val="37B26B"/>
          </a:solidFill>
          <a:ln/>
        </p:spPr>
      </p:sp>
      <p:sp>
        <p:nvSpPr>
          <p:cNvPr id="6" name="Text 4"/>
          <p:cNvSpPr/>
          <p:nvPr/>
        </p:nvSpPr>
        <p:spPr>
          <a:xfrm>
            <a:off x="1237458" y="2743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3429000"/>
            <a:ext cx="19262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Now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94360" y="3840480"/>
            <a:ext cx="1834835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Scoping, prototype, access one-pager, systems discovery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529493" y="2743200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10" name="Text 8"/>
          <p:cNvSpPr/>
          <p:nvPr/>
        </p:nvSpPr>
        <p:spPr>
          <a:xfrm>
            <a:off x="3529493" y="2743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840675" y="3429000"/>
            <a:ext cx="19262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Access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886395" y="3840480"/>
            <a:ext cx="1834835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read-only approval; confirm mechanism with Data Office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821528" y="2743200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14" name="Text 12"/>
          <p:cNvSpPr/>
          <p:nvPr/>
        </p:nvSpPr>
        <p:spPr>
          <a:xfrm>
            <a:off x="5821528" y="2743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132710" y="3429000"/>
            <a:ext cx="19262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178430" y="3840480"/>
            <a:ext cx="1834835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production: data layer, app DB, identity, Power BI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113563" y="2743200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18" name="Text 16"/>
          <p:cNvSpPr/>
          <p:nvPr/>
        </p:nvSpPr>
        <p:spPr>
          <a:xfrm>
            <a:off x="8113563" y="2743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424745" y="3429000"/>
            <a:ext cx="19262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470465" y="3840480"/>
            <a:ext cx="1834835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Email-drop, datasheet crosses, natural-language query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10405598" y="2743200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22" name="Text 20"/>
          <p:cNvSpPr/>
          <p:nvPr/>
        </p:nvSpPr>
        <p:spPr>
          <a:xfrm>
            <a:off x="10405598" y="2743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716780" y="3429000"/>
            <a:ext cx="19262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Rollout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762500" y="3840480"/>
            <a:ext cx="1834835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adoption, education &amp; sales-plan outputs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48640" y="553212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B7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Phased by design: each phase is independently valuable and lowers the risk of the next.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Owned Brands Sales Intelligence Platform</a:t>
            </a:r>
            <a:pPr algn="l" indent="0" marL="0">
              <a:buNone/>
            </a:pPr>
            <a:r>
              <a:rPr lang="en-US" sz="9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Confidential / Internal   ·   9 / 10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4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37B2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ASK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Approve read-only access, an Azure environment, and governance liaisons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11094415" cy="1005840"/>
          </a:xfrm>
          <a:prstGeom prst="roundRect">
            <a:avLst>
              <a:gd name="adj" fmla="val 7273"/>
            </a:avLst>
          </a:prstGeom>
          <a:solidFill>
            <a:srgbClr val="0B3020"/>
          </a:solidFill>
          <a:ln w="12700">
            <a:solidFill>
              <a:srgbClr val="1B7F4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286000"/>
            <a:ext cx="548640" cy="548640"/>
          </a:xfrm>
          <a:prstGeom prst="ellipse">
            <a:avLst/>
          </a:prstGeom>
          <a:solidFill>
            <a:srgbClr val="37B26B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286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00200" y="2203704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Read-only data access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754880" y="2167128"/>
            <a:ext cx="661385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D6E8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WCO sales data incl. margin/cost, via certified datasets, Power BI, or the API layer. User group: the Owned Brands sales team only. No access provided outside of OB.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200400"/>
            <a:ext cx="11094415" cy="1005840"/>
          </a:xfrm>
          <a:prstGeom prst="roundRect">
            <a:avLst>
              <a:gd name="adj" fmla="val 7273"/>
            </a:avLst>
          </a:prstGeom>
          <a:solidFill>
            <a:srgbClr val="0B3020"/>
          </a:solidFill>
          <a:ln w="12700">
            <a:solidFill>
              <a:srgbClr val="1B7F4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429000"/>
            <a:ext cx="548640" cy="548640"/>
          </a:xfrm>
          <a:prstGeom prst="ellipse">
            <a:avLst/>
          </a:prstGeom>
          <a:solidFill>
            <a:srgbClr val="37B26B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3429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600200" y="3346704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Azure build environment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754880" y="3310128"/>
            <a:ext cx="661385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D6E8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 / resource group under WCO governance, Entra ID app registration, Azure OpenAI in-tenant, and a Power BI workspace with certified-dataset read access.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343400"/>
            <a:ext cx="11094415" cy="1005840"/>
          </a:xfrm>
          <a:prstGeom prst="roundRect">
            <a:avLst>
              <a:gd name="adj" fmla="val 7273"/>
            </a:avLst>
          </a:prstGeom>
          <a:solidFill>
            <a:srgbClr val="0B3020"/>
          </a:solidFill>
          <a:ln w="12700">
            <a:solidFill>
              <a:srgbClr val="1B7F4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4572000"/>
            <a:ext cx="548640" cy="548640"/>
          </a:xfrm>
          <a:prstGeom prst="ellipse">
            <a:avLst/>
          </a:prstGeom>
          <a:solidFill>
            <a:srgbClr val="37B26B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572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600200" y="4489704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Governance liaisons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754880" y="4453128"/>
            <a:ext cx="661385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D6E8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contacts from Data Office, BI Governance, Cloud Engineering, and IT Security, plus confirmation of the access-request workflow and margin/cost classification.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562356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7B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requested: </a:t>
            </a:r>
            <a:pPr indent="0" marL="0">
              <a:buNone/>
            </a:pPr>
            <a:r>
              <a:rPr lang="en-US" sz="1300" dirty="0">
                <a:solidFill>
                  <a:srgbClr val="B9D2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to the ERP or CRM, direct DB connectivity, data duplication, access outside OB, or any egress.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6035040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Approve these, and the Owned Brands team can see the signals and act on them.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2026-06-20T16:06:48Z</dcterms:created>
  <dcterms:modified xsi:type="dcterms:W3CDTF">2026-06-20T16:06:48Z</dcterms:modified>
</cp:coreProperties>
</file>